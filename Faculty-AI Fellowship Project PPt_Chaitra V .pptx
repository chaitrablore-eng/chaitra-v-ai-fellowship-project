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5143500" cy="9144000"/>
  <p:embeddedFontLs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12">
          <p15:clr>
            <a:srgbClr val="A4A3A4"/>
          </p15:clr>
        </p15:guide>
        <p15:guide id="2" orient="horz" pos="852">
          <p15:clr>
            <a:srgbClr val="A4A3A4"/>
          </p15:clr>
        </p15:guide>
        <p15:guide id="3" pos="144">
          <p15:clr>
            <a:srgbClr val="A4A3A4"/>
          </p15:clr>
        </p15:guide>
      </p15:sldGuideLst>
    </p:ext>
    <p:ext uri="GoogleSlidesCustomDataVersion2">
      <go:slidesCustomData xmlns:go="http://customooxmlschemas.google.com/" r:id="rId26" roundtripDataSignature="AMtx7mgS67YQp7jDOJbGn/Gg6P9bR9pw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1165E1-59CC-4C34-8E4A-9ACAF786DE49}">
  <a:tblStyle styleId="{881165E1-59CC-4C34-8E4A-9ACAF786DE49}"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12" orient="horz"/>
        <p:guide pos="852" orient="horz"/>
        <p:guide pos="14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Lato-regular.fntdata"/><Relationship Id="rId21" Type="http://schemas.openxmlformats.org/officeDocument/2006/relationships/slide" Target="slides/slide15.xml"/><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6" name="Google Shape;6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4" name="Google Shape;7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9" name="Google Shape;8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6" name="Google Shape;9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ee072747e_0_1: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ee072747e_0_1: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005f734a9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g3e005f734a9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3" name="Google Shape;123;g3e005f734a9_0_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1" name="Google Shape;13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005f734a9_0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g3e005f734a9_0_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3" name="Google Shape;143;g3e005f734a9_0_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005f734a9_0_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e005f734a9_0_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4" name="Google Shape;154;g3e005f734a9_0_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4" name="Google Shape;16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9" name="Google Shape;18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7" name="Google Shape;19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2"/>
          <p:cNvGrpSpPr/>
          <p:nvPr/>
        </p:nvGrpSpPr>
        <p:grpSpPr>
          <a:xfrm flipH="1">
            <a:off x="0" y="4974576"/>
            <a:ext cx="9144000" cy="168924"/>
            <a:chOff x="0" y="-38100"/>
            <a:chExt cx="4402382" cy="104564"/>
          </a:xfrm>
        </p:grpSpPr>
        <p:sp>
          <p:nvSpPr>
            <p:cNvPr id="7" name="Google Shape;7;p12"/>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12"/>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 name="Google Shape;9;p12"/>
          <p:cNvGrpSpPr/>
          <p:nvPr/>
        </p:nvGrpSpPr>
        <p:grpSpPr>
          <a:xfrm>
            <a:off x="0" y="-243173"/>
            <a:ext cx="9144000" cy="667379"/>
            <a:chOff x="0" y="-38100"/>
            <a:chExt cx="4402382" cy="104564"/>
          </a:xfrm>
        </p:grpSpPr>
        <p:sp>
          <p:nvSpPr>
            <p:cNvPr id="10" name="Google Shape;10;p12"/>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12"/>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A black and white logo&#10;&#10;AI-generated content may be incorrect." id="12" name="Google Shape;12;p12"/>
          <p:cNvPicPr preferRelativeResize="0"/>
          <p:nvPr/>
        </p:nvPicPr>
        <p:blipFill rotWithShape="1">
          <a:blip r:embed="rId1">
            <a:alphaModFix/>
          </a:blip>
          <a:srcRect b="0" l="0" r="0" t="0"/>
          <a:stretch/>
        </p:blipFill>
        <p:spPr>
          <a:xfrm>
            <a:off x="7820696" y="55166"/>
            <a:ext cx="965086" cy="3138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1"/>
          <p:cNvSpPr/>
          <p:nvPr/>
        </p:nvSpPr>
        <p:spPr>
          <a:xfrm>
            <a:off x="364882" y="652908"/>
            <a:ext cx="3603333" cy="485021"/>
          </a:xfrm>
          <a:prstGeom prst="roundRect">
            <a:avLst>
              <a:gd fmla="val 16667" name="adj"/>
            </a:avLst>
          </a:prstGeom>
          <a:solidFill>
            <a:schemeClr val="lt1"/>
          </a:solidFill>
          <a:ln cap="flat" cmpd="sng" w="12700">
            <a:solidFill>
              <a:srgbClr val="1D63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 name="Google Shape;20;p1"/>
          <p:cNvGrpSpPr/>
          <p:nvPr/>
        </p:nvGrpSpPr>
        <p:grpSpPr>
          <a:xfrm>
            <a:off x="0" y="-72331"/>
            <a:ext cx="4153368" cy="198509"/>
            <a:chOff x="0" y="-38100"/>
            <a:chExt cx="2187782" cy="104564"/>
          </a:xfrm>
        </p:grpSpPr>
        <p:sp>
          <p:nvSpPr>
            <p:cNvPr id="21" name="Google Shape;21;p1"/>
            <p:cNvSpPr/>
            <p:nvPr/>
          </p:nvSpPr>
          <p:spPr>
            <a:xfrm>
              <a:off x="0" y="0"/>
              <a:ext cx="2187782" cy="66464"/>
            </a:xfrm>
            <a:custGeom>
              <a:rect b="b" l="l" r="r" t="t"/>
              <a:pathLst>
                <a:path extrusionOk="0" h="66464" w="2187782">
                  <a:moveTo>
                    <a:pt x="0" y="0"/>
                  </a:moveTo>
                  <a:lnTo>
                    <a:pt x="2187782" y="0"/>
                  </a:lnTo>
                  <a:lnTo>
                    <a:pt x="21877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2" name="Google Shape;22;p1"/>
            <p:cNvSpPr txBox="1"/>
            <p:nvPr/>
          </p:nvSpPr>
          <p:spPr>
            <a:xfrm>
              <a:off x="0" y="-38100"/>
              <a:ext cx="2187782"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3" name="Google Shape;23;p1"/>
          <p:cNvGrpSpPr/>
          <p:nvPr/>
        </p:nvGrpSpPr>
        <p:grpSpPr>
          <a:xfrm>
            <a:off x="0" y="4944991"/>
            <a:ext cx="7571294" cy="198509"/>
            <a:chOff x="0" y="-38100"/>
            <a:chExt cx="3988171" cy="104564"/>
          </a:xfrm>
        </p:grpSpPr>
        <p:sp>
          <p:nvSpPr>
            <p:cNvPr id="24" name="Google Shape;24;p1"/>
            <p:cNvSpPr/>
            <p:nvPr/>
          </p:nvSpPr>
          <p:spPr>
            <a:xfrm>
              <a:off x="0" y="0"/>
              <a:ext cx="3988171" cy="66464"/>
            </a:xfrm>
            <a:custGeom>
              <a:rect b="b" l="l" r="r" t="t"/>
              <a:pathLst>
                <a:path extrusionOk="0" h="66464" w="3988171">
                  <a:moveTo>
                    <a:pt x="0" y="0"/>
                  </a:moveTo>
                  <a:lnTo>
                    <a:pt x="3988171" y="0"/>
                  </a:lnTo>
                  <a:lnTo>
                    <a:pt x="3988171"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5" name="Google Shape;25;p1"/>
            <p:cNvSpPr txBox="1"/>
            <p:nvPr/>
          </p:nvSpPr>
          <p:spPr>
            <a:xfrm>
              <a:off x="0" y="-38100"/>
              <a:ext cx="3988171"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6" name="Google Shape;26;p1"/>
          <p:cNvGrpSpPr/>
          <p:nvPr/>
        </p:nvGrpSpPr>
        <p:grpSpPr>
          <a:xfrm rot="2700000">
            <a:off x="3687342" y="-590735"/>
            <a:ext cx="4602320" cy="2195587"/>
            <a:chOff x="0" y="-38100"/>
            <a:chExt cx="2424267" cy="1156523"/>
          </a:xfrm>
        </p:grpSpPr>
        <p:sp>
          <p:nvSpPr>
            <p:cNvPr id="27" name="Google Shape;27;p1"/>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8" name="Google Shape;28;p1"/>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9" name="Google Shape;29;p1"/>
          <p:cNvGrpSpPr/>
          <p:nvPr/>
        </p:nvGrpSpPr>
        <p:grpSpPr>
          <a:xfrm rot="2700000">
            <a:off x="5657931" y="242183"/>
            <a:ext cx="3724082" cy="1136725"/>
            <a:chOff x="0" y="-38100"/>
            <a:chExt cx="1961656" cy="598768"/>
          </a:xfrm>
        </p:grpSpPr>
        <p:sp>
          <p:nvSpPr>
            <p:cNvPr id="30" name="Google Shape;30;p1"/>
            <p:cNvSpPr/>
            <p:nvPr/>
          </p:nvSpPr>
          <p:spPr>
            <a:xfrm>
              <a:off x="0" y="0"/>
              <a:ext cx="1961656" cy="560668"/>
            </a:xfrm>
            <a:custGeom>
              <a:rect b="b" l="l" r="r" t="t"/>
              <a:pathLst>
                <a:path extrusionOk="0" h="560668" w="1961656">
                  <a:moveTo>
                    <a:pt x="0" y="0"/>
                  </a:moveTo>
                  <a:lnTo>
                    <a:pt x="1961656" y="0"/>
                  </a:lnTo>
                  <a:lnTo>
                    <a:pt x="1961656" y="560668"/>
                  </a:lnTo>
                  <a:lnTo>
                    <a:pt x="0" y="560668"/>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1" name="Google Shape;31;p1"/>
            <p:cNvSpPr txBox="1"/>
            <p:nvPr/>
          </p:nvSpPr>
          <p:spPr>
            <a:xfrm>
              <a:off x="0" y="-38100"/>
              <a:ext cx="1961656" cy="598768"/>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2" name="Google Shape;32;p1"/>
          <p:cNvGrpSpPr/>
          <p:nvPr/>
        </p:nvGrpSpPr>
        <p:grpSpPr>
          <a:xfrm rot="2700000">
            <a:off x="7553790" y="-954554"/>
            <a:ext cx="2873959" cy="2039351"/>
            <a:chOff x="0" y="-38100"/>
            <a:chExt cx="1513855" cy="1074226"/>
          </a:xfrm>
        </p:grpSpPr>
        <p:sp>
          <p:nvSpPr>
            <p:cNvPr id="33" name="Google Shape;33;p1"/>
            <p:cNvSpPr/>
            <p:nvPr/>
          </p:nvSpPr>
          <p:spPr>
            <a:xfrm>
              <a:off x="0" y="0"/>
              <a:ext cx="1513855" cy="1036126"/>
            </a:xfrm>
            <a:custGeom>
              <a:rect b="b" l="l" r="r" t="t"/>
              <a:pathLst>
                <a:path extrusionOk="0" h="1036126" w="1513855">
                  <a:moveTo>
                    <a:pt x="0" y="0"/>
                  </a:moveTo>
                  <a:lnTo>
                    <a:pt x="1513855" y="0"/>
                  </a:lnTo>
                  <a:lnTo>
                    <a:pt x="1513855" y="1036126"/>
                  </a:lnTo>
                  <a:lnTo>
                    <a:pt x="0" y="1036126"/>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4" name="Google Shape;34;p1"/>
            <p:cNvSpPr txBox="1"/>
            <p:nvPr/>
          </p:nvSpPr>
          <p:spPr>
            <a:xfrm>
              <a:off x="0" y="-38100"/>
              <a:ext cx="1513855" cy="1074226"/>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5" name="Google Shape;35;p1"/>
          <p:cNvGrpSpPr/>
          <p:nvPr/>
        </p:nvGrpSpPr>
        <p:grpSpPr>
          <a:xfrm rot="2700000">
            <a:off x="6782413" y="3941960"/>
            <a:ext cx="4602320" cy="2195587"/>
            <a:chOff x="0" y="-38100"/>
            <a:chExt cx="2424267" cy="1156523"/>
          </a:xfrm>
        </p:grpSpPr>
        <p:sp>
          <p:nvSpPr>
            <p:cNvPr id="36" name="Google Shape;36;p1"/>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7" name="Google Shape;37;p1"/>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8" name="Google Shape;38;p1"/>
          <p:cNvGrpSpPr/>
          <p:nvPr/>
        </p:nvGrpSpPr>
        <p:grpSpPr>
          <a:xfrm rot="2700000">
            <a:off x="7867768" y="3610781"/>
            <a:ext cx="2166949" cy="1198519"/>
            <a:chOff x="0" y="-38100"/>
            <a:chExt cx="1141438" cy="631319"/>
          </a:xfrm>
        </p:grpSpPr>
        <p:sp>
          <p:nvSpPr>
            <p:cNvPr id="39" name="Google Shape;39;p1"/>
            <p:cNvSpPr/>
            <p:nvPr/>
          </p:nvSpPr>
          <p:spPr>
            <a:xfrm>
              <a:off x="0" y="0"/>
              <a:ext cx="1141438" cy="593219"/>
            </a:xfrm>
            <a:custGeom>
              <a:rect b="b" l="l" r="r" t="t"/>
              <a:pathLst>
                <a:path extrusionOk="0" h="593219" w="1141438">
                  <a:moveTo>
                    <a:pt x="0" y="0"/>
                  </a:moveTo>
                  <a:lnTo>
                    <a:pt x="1141438" y="0"/>
                  </a:lnTo>
                  <a:lnTo>
                    <a:pt x="1141438" y="593219"/>
                  </a:lnTo>
                  <a:lnTo>
                    <a:pt x="0" y="593219"/>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0" name="Google Shape;40;p1"/>
            <p:cNvSpPr txBox="1"/>
            <p:nvPr/>
          </p:nvSpPr>
          <p:spPr>
            <a:xfrm>
              <a:off x="0" y="-38100"/>
              <a:ext cx="1141438" cy="631319"/>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41" name="Google Shape;41;p1"/>
          <p:cNvGrpSpPr/>
          <p:nvPr/>
        </p:nvGrpSpPr>
        <p:grpSpPr>
          <a:xfrm>
            <a:off x="5720497" y="768985"/>
            <a:ext cx="3475712" cy="3475712"/>
            <a:chOff x="0" y="0"/>
            <a:chExt cx="812800" cy="812800"/>
          </a:xfrm>
        </p:grpSpPr>
        <p:sp>
          <p:nvSpPr>
            <p:cNvPr id="42" name="Google Shape;42;p1"/>
            <p:cNvSpPr/>
            <p:nvPr/>
          </p:nvSpPr>
          <p:spPr>
            <a:xfrm>
              <a:off x="0" y="0"/>
              <a:ext cx="812800" cy="812800"/>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3" name="Google Shape;43;p1"/>
            <p:cNvSpPr txBox="1"/>
            <p:nvPr/>
          </p:nvSpPr>
          <p:spPr>
            <a:xfrm>
              <a:off x="63500" y="25400"/>
              <a:ext cx="685800" cy="723900"/>
            </a:xfrm>
            <a:prstGeom prst="rect">
              <a:avLst/>
            </a:prstGeom>
            <a:noFill/>
            <a:ln>
              <a:noFill/>
            </a:ln>
          </p:spPr>
          <p:txBody>
            <a:bodyPr anchorCtr="0" anchor="ctr" bIns="29425" lIns="29425" spcFirstLastPara="1" rIns="29425" wrap="square" tIns="29425">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sp>
        <p:nvSpPr>
          <p:cNvPr id="44" name="Google Shape;44;p1"/>
          <p:cNvSpPr/>
          <p:nvPr/>
        </p:nvSpPr>
        <p:spPr>
          <a:xfrm>
            <a:off x="4814816" y="492813"/>
            <a:ext cx="857064" cy="159628"/>
          </a:xfrm>
          <a:custGeom>
            <a:rect b="b" l="l" r="r" t="t"/>
            <a:pathLst>
              <a:path extrusionOk="0" h="319256" w="1714127">
                <a:moveTo>
                  <a:pt x="0" y="0"/>
                </a:moveTo>
                <a:lnTo>
                  <a:pt x="1714127" y="0"/>
                </a:lnTo>
                <a:lnTo>
                  <a:pt x="1714127" y="319257"/>
                </a:lnTo>
                <a:lnTo>
                  <a:pt x="0" y="31925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5" name="Google Shape;45;p1"/>
          <p:cNvSpPr/>
          <p:nvPr/>
        </p:nvSpPr>
        <p:spPr>
          <a:xfrm>
            <a:off x="8435937" y="4382878"/>
            <a:ext cx="857064" cy="159628"/>
          </a:xfrm>
          <a:custGeom>
            <a:rect b="b" l="l" r="r" t="t"/>
            <a:pathLst>
              <a:path extrusionOk="0" h="319256" w="1714127">
                <a:moveTo>
                  <a:pt x="0" y="0"/>
                </a:moveTo>
                <a:lnTo>
                  <a:pt x="1714127" y="0"/>
                </a:lnTo>
                <a:lnTo>
                  <a:pt x="1714127" y="319256"/>
                </a:lnTo>
                <a:lnTo>
                  <a:pt x="0" y="3192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6" name="Google Shape;46;p1"/>
          <p:cNvSpPr/>
          <p:nvPr/>
        </p:nvSpPr>
        <p:spPr>
          <a:xfrm>
            <a:off x="8726258" y="4572000"/>
            <a:ext cx="857064" cy="159628"/>
          </a:xfrm>
          <a:custGeom>
            <a:rect b="b" l="l" r="r" t="t"/>
            <a:pathLst>
              <a:path extrusionOk="0" h="319256" w="1714127">
                <a:moveTo>
                  <a:pt x="0" y="0"/>
                </a:moveTo>
                <a:lnTo>
                  <a:pt x="1714128" y="0"/>
                </a:lnTo>
                <a:lnTo>
                  <a:pt x="1714128" y="319256"/>
                </a:lnTo>
                <a:lnTo>
                  <a:pt x="0" y="3192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47" name="Google Shape;47;p1"/>
          <p:cNvGrpSpPr/>
          <p:nvPr/>
        </p:nvGrpSpPr>
        <p:grpSpPr>
          <a:xfrm>
            <a:off x="28481" y="2416465"/>
            <a:ext cx="4276125" cy="431080"/>
            <a:chOff x="0" y="2985846"/>
            <a:chExt cx="4276125" cy="431080"/>
          </a:xfrm>
        </p:grpSpPr>
        <p:grpSp>
          <p:nvGrpSpPr>
            <p:cNvPr id="48" name="Google Shape;48;p1"/>
            <p:cNvGrpSpPr/>
            <p:nvPr/>
          </p:nvGrpSpPr>
          <p:grpSpPr>
            <a:xfrm>
              <a:off x="0" y="2985846"/>
              <a:ext cx="4224335" cy="431080"/>
              <a:chOff x="0" y="-38100"/>
              <a:chExt cx="4355842" cy="444500"/>
            </a:xfrm>
          </p:grpSpPr>
          <p:sp>
            <p:nvSpPr>
              <p:cNvPr id="49" name="Google Shape;49;p1"/>
              <p:cNvSpPr/>
              <p:nvPr/>
            </p:nvSpPr>
            <p:spPr>
              <a:xfrm>
                <a:off x="0" y="0"/>
                <a:ext cx="4355842" cy="406400"/>
              </a:xfrm>
              <a:custGeom>
                <a:rect b="b" l="l" r="r" t="t"/>
                <a:pathLst>
                  <a:path extrusionOk="0" h="406400" w="4355842">
                    <a:moveTo>
                      <a:pt x="4152642" y="0"/>
                    </a:moveTo>
                    <a:lnTo>
                      <a:pt x="0" y="0"/>
                    </a:lnTo>
                    <a:lnTo>
                      <a:pt x="0" y="406400"/>
                    </a:lnTo>
                    <a:lnTo>
                      <a:pt x="4152642" y="406400"/>
                    </a:lnTo>
                    <a:lnTo>
                      <a:pt x="4355842" y="203200"/>
                    </a:lnTo>
                    <a:lnTo>
                      <a:pt x="4152642"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50" name="Google Shape;50;p1"/>
              <p:cNvSpPr txBox="1"/>
              <p:nvPr/>
            </p:nvSpPr>
            <p:spPr>
              <a:xfrm>
                <a:off x="0" y="-38100"/>
                <a:ext cx="4241542" cy="444500"/>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sp>
          <p:nvSpPr>
            <p:cNvPr id="51" name="Google Shape;51;p1"/>
            <p:cNvSpPr txBox="1"/>
            <p:nvPr/>
          </p:nvSpPr>
          <p:spPr>
            <a:xfrm>
              <a:off x="466725" y="3100839"/>
              <a:ext cx="3809400" cy="215400"/>
            </a:xfrm>
            <a:prstGeom prst="rect">
              <a:avLst/>
            </a:prstGeom>
            <a:noFill/>
            <a:ln>
              <a:noFill/>
            </a:ln>
          </p:spPr>
          <p:txBody>
            <a:bodyPr anchorCtr="0" anchor="t" bIns="0" lIns="0" spcFirstLastPara="1" rIns="0" wrap="square" tIns="0">
              <a:spAutoFit/>
            </a:bodyPr>
            <a:lstStyle/>
            <a:p>
              <a:pPr indent="0" lvl="0" marL="0" marR="0" rtl="0" algn="l">
                <a:lnSpc>
                  <a:spcPct val="138785"/>
                </a:lnSpc>
                <a:spcBef>
                  <a:spcPts val="0"/>
                </a:spcBef>
                <a:spcAft>
                  <a:spcPts val="0"/>
                </a:spcAft>
                <a:buNone/>
              </a:pPr>
              <a:r>
                <a:rPr b="1" lang="en-US" sz="1400">
                  <a:solidFill>
                    <a:srgbClr val="FFFFFF"/>
                  </a:solidFill>
                  <a:latin typeface="Arial"/>
                  <a:ea typeface="Arial"/>
                  <a:cs typeface="Arial"/>
                  <a:sym typeface="Arial"/>
                </a:rPr>
                <a:t>PRESENTATION 2026</a:t>
              </a:r>
              <a:endParaRPr/>
            </a:p>
          </p:txBody>
        </p:sp>
      </p:grpSp>
      <p:sp>
        <p:nvSpPr>
          <p:cNvPr id="52" name="Google Shape;52;p1"/>
          <p:cNvSpPr txBox="1"/>
          <p:nvPr/>
        </p:nvSpPr>
        <p:spPr>
          <a:xfrm>
            <a:off x="3305525" y="3845900"/>
            <a:ext cx="3603300" cy="1064100"/>
          </a:xfrm>
          <a:prstGeom prst="rect">
            <a:avLst/>
          </a:prstGeom>
          <a:noFill/>
          <a:ln>
            <a:noFill/>
          </a:ln>
        </p:spPr>
        <p:txBody>
          <a:bodyPr anchorCtr="0" anchor="t" bIns="0" lIns="0" spcFirstLastPara="1" rIns="0" wrap="square" tIns="0">
            <a:spAutoFit/>
          </a:bodyPr>
          <a:lstStyle/>
          <a:p>
            <a:pPr indent="0" lvl="0" marL="0" marR="0" rtl="0" algn="ctr">
              <a:lnSpc>
                <a:spcPct val="129600"/>
              </a:lnSpc>
              <a:spcBef>
                <a:spcPts val="0"/>
              </a:spcBef>
              <a:spcAft>
                <a:spcPts val="0"/>
              </a:spcAft>
              <a:buNone/>
            </a:pPr>
            <a:r>
              <a:t/>
            </a:r>
            <a:endParaRPr sz="2100">
              <a:solidFill>
                <a:schemeClr val="dk1"/>
              </a:solidFill>
            </a:endParaRPr>
          </a:p>
          <a:p>
            <a:pPr indent="0" lvl="0" marL="0" marR="0" rtl="0" algn="ctr">
              <a:lnSpc>
                <a:spcPct val="129600"/>
              </a:lnSpc>
              <a:spcBef>
                <a:spcPts val="0"/>
              </a:spcBef>
              <a:spcAft>
                <a:spcPts val="0"/>
              </a:spcAft>
              <a:buNone/>
            </a:pPr>
            <a:r>
              <a:rPr b="1" lang="en-US" sz="2000">
                <a:solidFill>
                  <a:schemeClr val="dk1"/>
                </a:solidFill>
              </a:rPr>
              <a:t>Faculty-Dr. Chaitra V </a:t>
            </a:r>
            <a:r>
              <a:rPr b="1" lang="en-US" sz="1600">
                <a:solidFill>
                  <a:schemeClr val="dk1"/>
                </a:solidFill>
              </a:rPr>
              <a:t>Email-chaitrablore@gmail.com</a:t>
            </a:r>
            <a:endParaRPr b="1"/>
          </a:p>
        </p:txBody>
      </p:sp>
      <p:grpSp>
        <p:nvGrpSpPr>
          <p:cNvPr id="53" name="Google Shape;53;p1"/>
          <p:cNvGrpSpPr/>
          <p:nvPr/>
        </p:nvGrpSpPr>
        <p:grpSpPr>
          <a:xfrm>
            <a:off x="640733" y="769747"/>
            <a:ext cx="3051630" cy="258616"/>
            <a:chOff x="1068621" y="826472"/>
            <a:chExt cx="2166264" cy="183584"/>
          </a:xfrm>
        </p:grpSpPr>
        <p:pic>
          <p:nvPicPr>
            <p:cNvPr descr="A blue and black logo&#10;&#10;AI-generated content may be incorrect." id="54" name="Google Shape;54;p1"/>
            <p:cNvPicPr preferRelativeResize="0"/>
            <p:nvPr/>
          </p:nvPicPr>
          <p:blipFill rotWithShape="1">
            <a:blip r:embed="rId4">
              <a:alphaModFix/>
            </a:blip>
            <a:srcRect b="0" l="0" r="0" t="0"/>
            <a:stretch/>
          </p:blipFill>
          <p:spPr>
            <a:xfrm>
              <a:off x="1068621" y="826472"/>
              <a:ext cx="632879" cy="158848"/>
            </a:xfrm>
            <a:prstGeom prst="rect">
              <a:avLst/>
            </a:prstGeom>
            <a:noFill/>
            <a:ln>
              <a:noFill/>
            </a:ln>
          </p:spPr>
        </p:pic>
        <p:pic>
          <p:nvPicPr>
            <p:cNvPr descr="A close up of a logo&#10;&#10;AI-generated content may be incorrect." id="55" name="Google Shape;55;p1"/>
            <p:cNvPicPr preferRelativeResize="0"/>
            <p:nvPr/>
          </p:nvPicPr>
          <p:blipFill rotWithShape="1">
            <a:blip r:embed="rId5">
              <a:alphaModFix/>
            </a:blip>
            <a:srcRect b="0" l="0" r="0" t="0"/>
            <a:stretch/>
          </p:blipFill>
          <p:spPr>
            <a:xfrm>
              <a:off x="2670437" y="826472"/>
              <a:ext cx="564448" cy="183584"/>
            </a:xfrm>
            <a:prstGeom prst="rect">
              <a:avLst/>
            </a:prstGeom>
            <a:noFill/>
            <a:ln>
              <a:noFill/>
            </a:ln>
          </p:spPr>
        </p:pic>
      </p:grpSp>
      <p:sp>
        <p:nvSpPr>
          <p:cNvPr id="56" name="Google Shape;56;p1"/>
          <p:cNvSpPr txBox="1"/>
          <p:nvPr/>
        </p:nvSpPr>
        <p:spPr>
          <a:xfrm>
            <a:off x="81600" y="4375350"/>
            <a:ext cx="3329100" cy="292500"/>
          </a:xfrm>
          <a:prstGeom prst="rect">
            <a:avLst/>
          </a:prstGeom>
          <a:noFill/>
          <a:ln>
            <a:noFill/>
          </a:ln>
        </p:spPr>
        <p:txBody>
          <a:bodyPr anchorCtr="0" anchor="t" bIns="0" lIns="0" spcFirstLastPara="1" rIns="0" wrap="square" tIns="0">
            <a:spAutoFit/>
          </a:bodyPr>
          <a:lstStyle/>
          <a:p>
            <a:pPr indent="0" lvl="0" marL="0" marR="0" rtl="0" algn="l">
              <a:lnSpc>
                <a:spcPct val="169833"/>
              </a:lnSpc>
              <a:spcBef>
                <a:spcPts val="0"/>
              </a:spcBef>
              <a:spcAft>
                <a:spcPts val="0"/>
              </a:spcAft>
              <a:buNone/>
            </a:pPr>
            <a:r>
              <a:rPr b="1" lang="en-US" sz="1900">
                <a:solidFill>
                  <a:schemeClr val="dk1"/>
                </a:solidFill>
              </a:rPr>
              <a:t>Mentor-Umamaheshwari</a:t>
            </a:r>
            <a:endParaRPr sz="1900">
              <a:solidFill>
                <a:schemeClr val="dk1"/>
              </a:solidFill>
            </a:endParaRPr>
          </a:p>
        </p:txBody>
      </p:sp>
      <p:sp>
        <p:nvSpPr>
          <p:cNvPr id="57" name="Google Shape;57;p1"/>
          <p:cNvSpPr/>
          <p:nvPr/>
        </p:nvSpPr>
        <p:spPr>
          <a:xfrm rot="-3404029">
            <a:off x="5802826" y="2309413"/>
            <a:ext cx="283464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1"/>
          <p:cNvSpPr/>
          <p:nvPr/>
        </p:nvSpPr>
        <p:spPr>
          <a:xfrm rot="-3404029">
            <a:off x="6146363" y="2413708"/>
            <a:ext cx="246888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1"/>
          <p:cNvSpPr/>
          <p:nvPr/>
        </p:nvSpPr>
        <p:spPr>
          <a:xfrm rot="-3404029">
            <a:off x="6482126" y="2528680"/>
            <a:ext cx="210312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1"/>
          <p:cNvSpPr/>
          <p:nvPr/>
        </p:nvSpPr>
        <p:spPr>
          <a:xfrm rot="-3404029">
            <a:off x="6735713" y="2647223"/>
            <a:ext cx="1872046" cy="116269"/>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1" name="Google Shape;61;p1"/>
          <p:cNvPicPr preferRelativeResize="0"/>
          <p:nvPr/>
        </p:nvPicPr>
        <p:blipFill rotWithShape="1">
          <a:blip r:embed="rId6">
            <a:alphaModFix/>
          </a:blip>
          <a:srcRect b="19729" l="0" r="0" t="0"/>
          <a:stretch/>
        </p:blipFill>
        <p:spPr>
          <a:xfrm>
            <a:off x="173750" y="1046552"/>
            <a:ext cx="3854250" cy="1322499"/>
          </a:xfrm>
          <a:prstGeom prst="rect">
            <a:avLst/>
          </a:prstGeom>
          <a:noFill/>
          <a:ln>
            <a:noFill/>
          </a:ln>
        </p:spPr>
      </p:pic>
      <p:graphicFrame>
        <p:nvGraphicFramePr>
          <p:cNvPr id="62" name="Google Shape;62;p1"/>
          <p:cNvGraphicFramePr/>
          <p:nvPr/>
        </p:nvGraphicFramePr>
        <p:xfrm>
          <a:off x="428688" y="3020164"/>
          <a:ext cx="3000000" cy="3000000"/>
        </p:xfrm>
        <a:graphic>
          <a:graphicData uri="http://schemas.openxmlformats.org/drawingml/2006/table">
            <a:tbl>
              <a:tblPr>
                <a:noFill/>
                <a:tableStyleId>{881165E1-59CC-4C34-8E4A-9ACAF786DE49}</a:tableStyleId>
              </a:tblPr>
              <a:tblGrid>
                <a:gridCol w="3475700"/>
              </a:tblGrid>
              <a:tr h="683775">
                <a:tc>
                  <a:txBody>
                    <a:bodyPr/>
                    <a:lstStyle/>
                    <a:p>
                      <a:pPr indent="0" lvl="0" marL="0" marR="0" rtl="0" algn="ctr">
                        <a:spcBef>
                          <a:spcPts val="0"/>
                        </a:spcBef>
                        <a:spcAft>
                          <a:spcPts val="0"/>
                        </a:spcAft>
                        <a:buNone/>
                      </a:pPr>
                      <a:r>
                        <a:rPr b="1" lang="en-US" sz="2100" u="none" cap="none" strike="noStrike">
                          <a:solidFill>
                            <a:srgbClr val="0D358D"/>
                          </a:solidFill>
                        </a:rPr>
                        <a:t>Project Title</a:t>
                      </a:r>
                      <a:r>
                        <a:rPr b="1" lang="en-US" sz="2000" u="none" cap="none" strike="noStrike">
                          <a:solidFill>
                            <a:srgbClr val="0D358D"/>
                          </a:solidFill>
                        </a:rPr>
                        <a:t> </a:t>
                      </a:r>
                      <a:r>
                        <a:rPr b="1" lang="en-US" sz="2200">
                          <a:solidFill>
                            <a:srgbClr val="1F2937"/>
                          </a:solidFill>
                        </a:rPr>
                        <a:t>StatuteEasy — Real-Time Law Translation &amp; Simplification Tool</a:t>
                      </a:r>
                      <a:endParaRPr sz="2200"/>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2"/>
          <p:cNvSpPr/>
          <p:nvPr/>
        </p:nvSpPr>
        <p:spPr>
          <a:xfrm>
            <a:off x="130350" y="610217"/>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600">
                <a:solidFill>
                  <a:srgbClr val="1B3A8A"/>
                </a:solidFill>
                <a:latin typeface="Lato"/>
                <a:ea typeface="Lato"/>
                <a:cs typeface="Lato"/>
                <a:sym typeface="Lato"/>
              </a:rPr>
              <a:t>Outline</a:t>
            </a:r>
            <a:endParaRPr sz="2600">
              <a:solidFill>
                <a:schemeClr val="dk1"/>
              </a:solidFill>
              <a:latin typeface="Lato"/>
              <a:ea typeface="Lato"/>
              <a:cs typeface="Lato"/>
              <a:sym typeface="Lato"/>
            </a:endParaRPr>
          </a:p>
        </p:txBody>
      </p:sp>
      <p:sp>
        <p:nvSpPr>
          <p:cNvPr id="69" name="Google Shape;69;p2"/>
          <p:cNvSpPr txBox="1"/>
          <p:nvPr/>
        </p:nvSpPr>
        <p:spPr>
          <a:xfrm>
            <a:off x="125250" y="1080599"/>
            <a:ext cx="4446600" cy="33042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b="1" sz="1800">
              <a:solidFill>
                <a:schemeClr val="dk1"/>
              </a:solidFill>
              <a:latin typeface="Lato"/>
              <a:ea typeface="Lato"/>
              <a:cs typeface="Lato"/>
              <a:sym typeface="Lato"/>
            </a:endParaRPr>
          </a:p>
          <a:p>
            <a:pPr indent="-228600" lvl="0" marL="228600" marR="0" rtl="0" algn="l">
              <a:spcBef>
                <a:spcPts val="0"/>
              </a:spcBef>
              <a:spcAft>
                <a:spcPts val="0"/>
              </a:spcAft>
              <a:buClr>
                <a:schemeClr val="dk1"/>
              </a:buClr>
              <a:buSzPts val="1800"/>
              <a:buChar char="•"/>
            </a:pPr>
            <a:r>
              <a:rPr b="1" lang="en-US" sz="1800">
                <a:solidFill>
                  <a:schemeClr val="dk1"/>
                </a:solidFill>
                <a:latin typeface="Lato"/>
                <a:ea typeface="Lato"/>
                <a:cs typeface="Lato"/>
                <a:sym typeface="Lato"/>
              </a:rPr>
              <a:t>Abstract of the Project</a:t>
            </a:r>
            <a:endParaRPr b="1" sz="1800">
              <a:solidFill>
                <a:schemeClr val="dk1"/>
              </a:solidFill>
              <a:latin typeface="Lato"/>
              <a:ea typeface="Lato"/>
              <a:cs typeface="Lato"/>
              <a:sym typeface="Lato"/>
            </a:endParaRPr>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Problem Statement</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Proposed Solution</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System Architecture</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Live Demo of the Project</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Embedded Video of Project</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Conclusion</a:t>
            </a:r>
            <a:endParaRPr b="1"/>
          </a:p>
          <a:p>
            <a:pPr indent="-228600" lvl="0" marL="228600" marR="0" rtl="0" algn="l">
              <a:spcBef>
                <a:spcPts val="800"/>
              </a:spcBef>
              <a:spcAft>
                <a:spcPts val="0"/>
              </a:spcAft>
              <a:buClr>
                <a:schemeClr val="dk1"/>
              </a:buClr>
              <a:buSzPts val="1800"/>
              <a:buChar char="•"/>
            </a:pPr>
            <a:r>
              <a:rPr b="1" lang="en-US" sz="1800">
                <a:solidFill>
                  <a:schemeClr val="dk1"/>
                </a:solidFill>
                <a:latin typeface="Lato"/>
                <a:ea typeface="Lato"/>
                <a:cs typeface="Lato"/>
                <a:sym typeface="Lato"/>
              </a:rPr>
              <a:t>Future Scope</a:t>
            </a:r>
            <a:endParaRPr b="1"/>
          </a:p>
        </p:txBody>
      </p:sp>
      <p:pic>
        <p:nvPicPr>
          <p:cNvPr descr="A screen shot of a computer&#10;&#10;AI-generated content may be incorrect." id="70" name="Google Shape;70;p2"/>
          <p:cNvPicPr preferRelativeResize="0"/>
          <p:nvPr/>
        </p:nvPicPr>
        <p:blipFill rotWithShape="1">
          <a:blip r:embed="rId3">
            <a:alphaModFix/>
          </a:blip>
          <a:srcRect b="28715" l="25250" r="18976" t="7320"/>
          <a:stretch/>
        </p:blipFill>
        <p:spPr>
          <a:xfrm>
            <a:off x="5378824" y="1034325"/>
            <a:ext cx="2868706" cy="3290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3"/>
          <p:cNvSpPr/>
          <p:nvPr/>
        </p:nvSpPr>
        <p:spPr>
          <a:xfrm>
            <a:off x="140075" y="414900"/>
            <a:ext cx="8229600" cy="47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3200">
                <a:solidFill>
                  <a:srgbClr val="1B3A8A"/>
                </a:solidFill>
                <a:latin typeface="Lato"/>
                <a:ea typeface="Lato"/>
                <a:cs typeface="Lato"/>
                <a:sym typeface="Lato"/>
              </a:rPr>
              <a:t>Abstract</a:t>
            </a:r>
            <a:endParaRPr b="1" sz="3200">
              <a:solidFill>
                <a:schemeClr val="dk1"/>
              </a:solidFill>
              <a:latin typeface="Lato"/>
              <a:ea typeface="Lato"/>
              <a:cs typeface="Lato"/>
              <a:sym typeface="Lato"/>
            </a:endParaRPr>
          </a:p>
        </p:txBody>
      </p:sp>
      <p:sp>
        <p:nvSpPr>
          <p:cNvPr id="77" name="Google Shape;77;p3"/>
          <p:cNvSpPr txBox="1"/>
          <p:nvPr/>
        </p:nvSpPr>
        <p:spPr>
          <a:xfrm>
            <a:off x="353875" y="890700"/>
            <a:ext cx="8547000" cy="4438200"/>
          </a:xfrm>
          <a:prstGeom prst="rect">
            <a:avLst/>
          </a:prstGeom>
          <a:noFill/>
          <a:ln>
            <a:noFill/>
          </a:ln>
        </p:spPr>
        <p:txBody>
          <a:bodyPr anchorCtr="0" anchor="t" bIns="45700" lIns="91425" spcFirstLastPara="1" rIns="91425" wrap="square" tIns="45700">
            <a:spAutoFit/>
          </a:bodyPr>
          <a:lstStyle/>
          <a:p>
            <a:pPr indent="-361950" lvl="0" marL="457200" rtl="0" algn="just">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Legal jargon (legalese) in statutes makes them incomprehensible to citizens. </a:t>
            </a:r>
            <a:endParaRPr sz="2100">
              <a:solidFill>
                <a:schemeClr val="dk1"/>
              </a:solidFill>
              <a:latin typeface="Times New Roman"/>
              <a:ea typeface="Times New Roman"/>
              <a:cs typeface="Times New Roman"/>
              <a:sym typeface="Times New Roman"/>
            </a:endParaRPr>
          </a:p>
          <a:p>
            <a:pPr indent="0" lvl="0" marL="457200" rtl="0" algn="just">
              <a:lnSpc>
                <a:spcPct val="100000"/>
              </a:lnSpc>
              <a:spcBef>
                <a:spcPts val="800"/>
              </a:spcBef>
              <a:spcAft>
                <a:spcPts val="0"/>
              </a:spcAft>
              <a:buNone/>
            </a:pPr>
            <a:r>
              <a:t/>
            </a:r>
            <a:endParaRPr sz="2100">
              <a:solidFill>
                <a:schemeClr val="dk1"/>
              </a:solidFill>
              <a:latin typeface="Times New Roman"/>
              <a:ea typeface="Times New Roman"/>
              <a:cs typeface="Times New Roman"/>
              <a:sym typeface="Times New Roman"/>
            </a:endParaRPr>
          </a:p>
          <a:p>
            <a:pPr indent="-361950" lvl="0" marL="457200" rtl="0" algn="just">
              <a:lnSpc>
                <a:spcPct val="100000"/>
              </a:lnSpc>
              <a:spcBef>
                <a:spcPts val="80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This project aims to develop AI tool for simplification and multilingual translation of legislation. The initial scope of the study is to simplify one central legislation relating to women's protection and translate into one </a:t>
            </a:r>
            <a:r>
              <a:rPr lang="en-US" sz="2100">
                <a:solidFill>
                  <a:schemeClr val="dk1"/>
                </a:solidFill>
                <a:latin typeface="Times New Roman"/>
                <a:ea typeface="Times New Roman"/>
                <a:cs typeface="Times New Roman"/>
                <a:sym typeface="Times New Roman"/>
              </a:rPr>
              <a:t>regional language by building a legal chatbot using co-pilot studio</a:t>
            </a:r>
            <a:r>
              <a:rPr lang="en-US" sz="2100">
                <a:solidFill>
                  <a:schemeClr val="dk1"/>
                </a:solidFill>
                <a:latin typeface="Times New Roman"/>
                <a:ea typeface="Times New Roman"/>
                <a:cs typeface="Times New Roman"/>
                <a:sym typeface="Times New Roman"/>
              </a:rPr>
              <a:t>. </a:t>
            </a:r>
            <a:endParaRPr sz="2100">
              <a:solidFill>
                <a:schemeClr val="dk1"/>
              </a:solidFill>
              <a:latin typeface="Times New Roman"/>
              <a:ea typeface="Times New Roman"/>
              <a:cs typeface="Times New Roman"/>
              <a:sym typeface="Times New Roman"/>
            </a:endParaRPr>
          </a:p>
          <a:p>
            <a:pPr indent="0" lvl="0" marL="457200" rtl="0" algn="just">
              <a:lnSpc>
                <a:spcPct val="100000"/>
              </a:lnSpc>
              <a:spcBef>
                <a:spcPts val="800"/>
              </a:spcBef>
              <a:spcAft>
                <a:spcPts val="0"/>
              </a:spcAft>
              <a:buNone/>
            </a:pPr>
            <a:r>
              <a:t/>
            </a:r>
            <a:endParaRPr sz="2100">
              <a:solidFill>
                <a:schemeClr val="dk1"/>
              </a:solidFill>
              <a:latin typeface="Times New Roman"/>
              <a:ea typeface="Times New Roman"/>
              <a:cs typeface="Times New Roman"/>
              <a:sym typeface="Times New Roman"/>
            </a:endParaRPr>
          </a:p>
          <a:p>
            <a:pPr indent="-361950" lvl="0" marL="457200" rtl="0" algn="just">
              <a:lnSpc>
                <a:spcPct val="100000"/>
              </a:lnSpc>
              <a:spcBef>
                <a:spcPts val="80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The expected outcome is the creation of a functional </a:t>
            </a:r>
            <a:r>
              <a:rPr b="1" i="1" lang="en-US" sz="2100">
                <a:solidFill>
                  <a:schemeClr val="dk1"/>
                </a:solidFill>
                <a:latin typeface="Times New Roman"/>
                <a:ea typeface="Times New Roman"/>
                <a:cs typeface="Times New Roman"/>
                <a:sym typeface="Times New Roman"/>
              </a:rPr>
              <a:t>Law</a:t>
            </a:r>
            <a:r>
              <a:rPr lang="en-US" sz="2100">
                <a:solidFill>
                  <a:schemeClr val="dk1"/>
                </a:solidFill>
                <a:latin typeface="Times New Roman"/>
                <a:ea typeface="Times New Roman"/>
                <a:cs typeface="Times New Roman"/>
                <a:sym typeface="Times New Roman"/>
              </a:rPr>
              <a:t> </a:t>
            </a:r>
            <a:r>
              <a:rPr b="1" i="1" lang="en-US" sz="2100">
                <a:solidFill>
                  <a:schemeClr val="dk1"/>
                </a:solidFill>
                <a:latin typeface="Times New Roman"/>
                <a:ea typeface="Times New Roman"/>
                <a:cs typeface="Times New Roman"/>
                <a:sym typeface="Times New Roman"/>
              </a:rPr>
              <a:t>Simplifier Bot </a:t>
            </a:r>
            <a:r>
              <a:rPr lang="en-US" sz="2100">
                <a:solidFill>
                  <a:schemeClr val="dk1"/>
                </a:solidFill>
                <a:latin typeface="Times New Roman"/>
                <a:ea typeface="Times New Roman"/>
                <a:cs typeface="Times New Roman"/>
                <a:sym typeface="Times New Roman"/>
              </a:rPr>
              <a:t>which improves legal literacy of women and accessibility, but will not be a substitute for professional legal advice.</a:t>
            </a:r>
            <a:endParaRPr sz="2100">
              <a:solidFill>
                <a:schemeClr val="dk1"/>
              </a:solidFill>
              <a:latin typeface="Times New Roman"/>
              <a:ea typeface="Times New Roman"/>
              <a:cs typeface="Times New Roman"/>
              <a:sym typeface="Times New Roman"/>
            </a:endParaRPr>
          </a:p>
          <a:p>
            <a:pPr indent="0" lvl="0" marL="0" rtl="0" algn="just">
              <a:spcBef>
                <a:spcPts val="800"/>
              </a:spcBef>
              <a:spcAft>
                <a:spcPts val="80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4"/>
          <p:cNvSpPr/>
          <p:nvPr/>
        </p:nvSpPr>
        <p:spPr>
          <a:xfrm>
            <a:off x="120625" y="432526"/>
            <a:ext cx="8229600" cy="617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500">
                <a:solidFill>
                  <a:srgbClr val="1B3A8A"/>
                </a:solidFill>
                <a:latin typeface="Lato"/>
                <a:ea typeface="Lato"/>
                <a:cs typeface="Lato"/>
                <a:sym typeface="Lato"/>
              </a:rPr>
              <a:t>Problem Statement</a:t>
            </a:r>
            <a:endParaRPr b="1" sz="2500">
              <a:solidFill>
                <a:schemeClr val="dk1"/>
              </a:solidFill>
              <a:latin typeface="Lato"/>
              <a:ea typeface="Lato"/>
              <a:cs typeface="Lato"/>
              <a:sym typeface="Lato"/>
            </a:endParaRPr>
          </a:p>
        </p:txBody>
      </p:sp>
      <p:sp>
        <p:nvSpPr>
          <p:cNvPr id="84" name="Google Shape;84;p4"/>
          <p:cNvSpPr txBox="1"/>
          <p:nvPr/>
        </p:nvSpPr>
        <p:spPr>
          <a:xfrm>
            <a:off x="125250" y="1128775"/>
            <a:ext cx="6289800" cy="45465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000"/>
              </a:spcBef>
              <a:spcAft>
                <a:spcPts val="0"/>
              </a:spcAft>
              <a:buClr>
                <a:schemeClr val="dk1"/>
              </a:buClr>
              <a:buSzPts val="1100"/>
              <a:buFont typeface="Arial"/>
              <a:buNone/>
            </a:pPr>
            <a:r>
              <a:rPr lang="en-US" sz="2100">
                <a:solidFill>
                  <a:schemeClr val="dk1"/>
                </a:solidFill>
                <a:highlight>
                  <a:srgbClr val="FFFFFF"/>
                </a:highlight>
                <a:latin typeface="Times New Roman"/>
                <a:ea typeface="Times New Roman"/>
                <a:cs typeface="Times New Roman"/>
                <a:sym typeface="Times New Roman"/>
              </a:rPr>
              <a:t>The project addresses the inaccessibility of laws in India due to complex legal language (“legalese”), which makes it difficult for common citizens, especially women in low-literacy states to understand, limiting awareness and access of rights. </a:t>
            </a:r>
            <a:endParaRPr sz="21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000"/>
              </a:spcBef>
              <a:spcAft>
                <a:spcPts val="0"/>
              </a:spcAft>
              <a:buClr>
                <a:schemeClr val="dk1"/>
              </a:buClr>
              <a:buSzPts val="1100"/>
              <a:buFont typeface="Arial"/>
              <a:buNone/>
            </a:pPr>
            <a:r>
              <a:rPr lang="en-US" sz="2100">
                <a:solidFill>
                  <a:schemeClr val="dk1"/>
                </a:solidFill>
                <a:highlight>
                  <a:srgbClr val="FFFFFF"/>
                </a:highlight>
                <a:latin typeface="Times New Roman"/>
                <a:ea typeface="Times New Roman"/>
                <a:cs typeface="Times New Roman"/>
                <a:sym typeface="Times New Roman"/>
              </a:rPr>
              <a:t>Even educated women often struggle to comprehend these laws, as the language remains highly technical</a:t>
            </a:r>
            <a:endParaRPr sz="21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000"/>
              </a:spcBef>
              <a:spcAft>
                <a:spcPts val="0"/>
              </a:spcAft>
              <a:buClr>
                <a:schemeClr val="dk1"/>
              </a:buClr>
              <a:buSzPts val="1100"/>
              <a:buFont typeface="Arial"/>
              <a:buNone/>
            </a:pPr>
            <a:r>
              <a:rPr lang="en-US" sz="2100">
                <a:solidFill>
                  <a:schemeClr val="dk1"/>
                </a:solidFill>
                <a:highlight>
                  <a:srgbClr val="FFFFFF"/>
                </a:highlight>
                <a:latin typeface="Times New Roman"/>
                <a:ea typeface="Times New Roman"/>
                <a:cs typeface="Times New Roman"/>
                <a:sym typeface="Times New Roman"/>
              </a:rPr>
              <a:t>Existing resources provide translations but retain jargon and lack user-friendly explanations.</a:t>
            </a:r>
            <a:endParaRPr sz="21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000"/>
              </a:spcBef>
              <a:spcAft>
                <a:spcPts val="0"/>
              </a:spcAft>
              <a:buClr>
                <a:schemeClr val="dk1"/>
              </a:buClr>
              <a:buSzPts val="1100"/>
              <a:buFont typeface="Arial"/>
              <a:buNone/>
            </a:pPr>
            <a:r>
              <a:rPr lang="en-US" sz="1800">
                <a:solidFill>
                  <a:schemeClr val="dk1"/>
                </a:solidFill>
                <a:highlight>
                  <a:srgbClr val="FFFFFF"/>
                </a:highlight>
                <a:latin typeface="Times New Roman"/>
                <a:ea typeface="Times New Roman"/>
                <a:cs typeface="Times New Roman"/>
                <a:sym typeface="Times New Roman"/>
              </a:rPr>
              <a:t> </a:t>
            </a:r>
            <a:endParaRPr sz="1800">
              <a:solidFill>
                <a:schemeClr val="dk1"/>
              </a:solidFill>
              <a:highlight>
                <a:srgbClr val="FFFFFF"/>
              </a:highlight>
              <a:latin typeface="Times New Roman"/>
              <a:ea typeface="Times New Roman"/>
              <a:cs typeface="Times New Roman"/>
              <a:sym typeface="Times New Roman"/>
            </a:endParaRPr>
          </a:p>
          <a:p>
            <a:pPr indent="0" lvl="0" marL="457200" marR="0" rtl="0" algn="l">
              <a:spcBef>
                <a:spcPts val="1000"/>
              </a:spcBef>
              <a:spcAft>
                <a:spcPts val="0"/>
              </a:spcAft>
              <a:buNone/>
            </a:pPr>
            <a:r>
              <a:t/>
            </a:r>
            <a:endParaRPr sz="1800">
              <a:solidFill>
                <a:schemeClr val="dk1"/>
              </a:solidFill>
              <a:latin typeface="Lato"/>
              <a:ea typeface="Lato"/>
              <a:cs typeface="Lato"/>
              <a:sym typeface="Lato"/>
            </a:endParaRPr>
          </a:p>
        </p:txBody>
      </p:sp>
      <p:pic>
        <p:nvPicPr>
          <p:cNvPr id="85" name="Google Shape;85;p4"/>
          <p:cNvPicPr preferRelativeResize="0"/>
          <p:nvPr/>
        </p:nvPicPr>
        <p:blipFill>
          <a:blip r:embed="rId3">
            <a:alphaModFix/>
          </a:blip>
          <a:stretch>
            <a:fillRect/>
          </a:stretch>
        </p:blipFill>
        <p:spPr>
          <a:xfrm>
            <a:off x="6555750" y="1202600"/>
            <a:ext cx="2485750" cy="3286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5"/>
          <p:cNvSpPr/>
          <p:nvPr/>
        </p:nvSpPr>
        <p:spPr>
          <a:xfrm>
            <a:off x="125486" y="616930"/>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700">
                <a:solidFill>
                  <a:srgbClr val="1B3A8A"/>
                </a:solidFill>
                <a:latin typeface="Lato"/>
                <a:ea typeface="Lato"/>
                <a:cs typeface="Lato"/>
                <a:sym typeface="Lato"/>
              </a:rPr>
              <a:t>Proposed Solution</a:t>
            </a:r>
            <a:endParaRPr sz="2700">
              <a:solidFill>
                <a:schemeClr val="dk1"/>
              </a:solidFill>
              <a:latin typeface="Lato"/>
              <a:ea typeface="Lato"/>
              <a:cs typeface="Lato"/>
              <a:sym typeface="Lato"/>
            </a:endParaRPr>
          </a:p>
        </p:txBody>
      </p:sp>
      <p:sp>
        <p:nvSpPr>
          <p:cNvPr id="92" name="Google Shape;92;p5"/>
          <p:cNvSpPr/>
          <p:nvPr/>
        </p:nvSpPr>
        <p:spPr>
          <a:xfrm>
            <a:off x="125475" y="1046025"/>
            <a:ext cx="8922900" cy="40974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800"/>
              <a:buFont typeface="Lato"/>
              <a:buNone/>
            </a:pPr>
            <a:r>
              <a:rPr lang="en-US" sz="2000">
                <a:solidFill>
                  <a:schemeClr val="dk1"/>
                </a:solidFill>
                <a:latin typeface="Times New Roman"/>
                <a:ea typeface="Times New Roman"/>
                <a:cs typeface="Times New Roman"/>
                <a:sym typeface="Times New Roman"/>
              </a:rPr>
              <a:t>The project proposes to create a multiltingual legal chatbot using Microsoft Copilot Studio to simplify and translate central legislations relating to women protection.</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rPr lang="en-US" sz="2000">
                <a:solidFill>
                  <a:schemeClr val="dk1"/>
                </a:solidFill>
                <a:latin typeface="Times New Roman"/>
                <a:ea typeface="Times New Roman"/>
                <a:cs typeface="Times New Roman"/>
                <a:sym typeface="Times New Roman"/>
              </a:rPr>
              <a:t>The methodology involves selecting key provisions of the law, rewriting them in simple language, and translating them into one regional language. This content is then organized into a corpus and used to build a chatbot that can answer common legal questions in the form of conversations.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rgbClr val="1A1A2E"/>
              </a:buClr>
              <a:buSzPts val="1800"/>
              <a:buFont typeface="Lato"/>
              <a:buNone/>
            </a:pPr>
            <a:r>
              <a:rPr lang="en-US" sz="2000">
                <a:solidFill>
                  <a:schemeClr val="dk1"/>
                </a:solidFill>
                <a:latin typeface="Times New Roman"/>
                <a:ea typeface="Times New Roman"/>
                <a:cs typeface="Times New Roman"/>
                <a:sym typeface="Times New Roman"/>
              </a:rPr>
              <a:t>Key benefits include enhanced legal awareness among women, providing accessibility for non-English speaking women and scalable architecture that can be extended to more laws and languages, making it a useful and impactful legal-tech innovation.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6"/>
          <p:cNvSpPr/>
          <p:nvPr/>
        </p:nvSpPr>
        <p:spPr>
          <a:xfrm>
            <a:off x="130350" y="602920"/>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200">
                <a:solidFill>
                  <a:srgbClr val="1B3A8A"/>
                </a:solidFill>
                <a:latin typeface="Lato"/>
                <a:ea typeface="Lato"/>
                <a:cs typeface="Lato"/>
                <a:sym typeface="Lato"/>
              </a:rPr>
              <a:t>System Architecture</a:t>
            </a:r>
            <a:endParaRPr sz="2200">
              <a:solidFill>
                <a:schemeClr val="dk1"/>
              </a:solidFill>
              <a:latin typeface="Lato"/>
              <a:ea typeface="Lato"/>
              <a:cs typeface="Lato"/>
              <a:sym typeface="Lato"/>
            </a:endParaRPr>
          </a:p>
        </p:txBody>
      </p:sp>
      <p:sp>
        <p:nvSpPr>
          <p:cNvPr id="99" name="Google Shape;99;p6"/>
          <p:cNvSpPr/>
          <p:nvPr/>
        </p:nvSpPr>
        <p:spPr>
          <a:xfrm>
            <a:off x="235408" y="1243200"/>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0" name="Google Shape;100;p6"/>
          <p:cNvSpPr/>
          <p:nvPr/>
        </p:nvSpPr>
        <p:spPr>
          <a:xfrm>
            <a:off x="4167328" y="1243200"/>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1" name="Google Shape;101;p6"/>
          <p:cNvSpPr/>
          <p:nvPr/>
        </p:nvSpPr>
        <p:spPr>
          <a:xfrm>
            <a:off x="326848" y="1279776"/>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Data Input / Source</a:t>
            </a:r>
            <a:endParaRPr sz="1600">
              <a:solidFill>
                <a:schemeClr val="dk1"/>
              </a:solidFill>
              <a:latin typeface="Lato"/>
              <a:ea typeface="Lato"/>
              <a:cs typeface="Lato"/>
              <a:sym typeface="Lato"/>
            </a:endParaRPr>
          </a:p>
        </p:txBody>
      </p:sp>
      <p:sp>
        <p:nvSpPr>
          <p:cNvPr id="102" name="Google Shape;102;p6"/>
          <p:cNvSpPr/>
          <p:nvPr/>
        </p:nvSpPr>
        <p:spPr>
          <a:xfrm>
            <a:off x="326848" y="1700400"/>
            <a:ext cx="4023360" cy="118872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lang="en-US" sz="1800">
                <a:solidFill>
                  <a:schemeClr val="dk1"/>
                </a:solidFill>
                <a:latin typeface="Times New Roman"/>
                <a:ea typeface="Times New Roman"/>
                <a:cs typeface="Times New Roman"/>
                <a:sym typeface="Times New Roman"/>
              </a:rPr>
              <a:t>India Code website is a </a:t>
            </a:r>
            <a:r>
              <a:rPr lang="en-US" sz="1800">
                <a:solidFill>
                  <a:schemeClr val="dk1"/>
                </a:solidFill>
                <a:latin typeface="Times New Roman"/>
                <a:ea typeface="Times New Roman"/>
                <a:cs typeface="Times New Roman"/>
                <a:sym typeface="Times New Roman"/>
              </a:rPr>
              <a:t>repository</a:t>
            </a:r>
            <a:r>
              <a:rPr lang="en-US" sz="1800">
                <a:solidFill>
                  <a:schemeClr val="dk1"/>
                </a:solidFill>
                <a:latin typeface="Times New Roman"/>
                <a:ea typeface="Times New Roman"/>
                <a:cs typeface="Times New Roman"/>
                <a:sym typeface="Times New Roman"/>
              </a:rPr>
              <a:t> of all Central Acts of the Parliament, can be downloaded in pdf ( https://www.indiacode.nic.in/)</a:t>
            </a:r>
            <a:endParaRPr sz="1800">
              <a:solidFill>
                <a:schemeClr val="dk1"/>
              </a:solidFill>
              <a:latin typeface="Times New Roman"/>
              <a:ea typeface="Times New Roman"/>
              <a:cs typeface="Times New Roman"/>
              <a:sym typeface="Times New Roman"/>
            </a:endParaRPr>
          </a:p>
        </p:txBody>
      </p:sp>
      <p:sp>
        <p:nvSpPr>
          <p:cNvPr id="103" name="Google Shape;103;p6"/>
          <p:cNvSpPr/>
          <p:nvPr/>
        </p:nvSpPr>
        <p:spPr>
          <a:xfrm>
            <a:off x="4670248" y="1243200"/>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Lato"/>
              <a:ea typeface="Lato"/>
              <a:cs typeface="Lato"/>
              <a:sym typeface="Lato"/>
            </a:endParaRPr>
          </a:p>
        </p:txBody>
      </p:sp>
      <p:sp>
        <p:nvSpPr>
          <p:cNvPr id="104" name="Google Shape;104;p6"/>
          <p:cNvSpPr/>
          <p:nvPr/>
        </p:nvSpPr>
        <p:spPr>
          <a:xfrm>
            <a:off x="8602168" y="1243200"/>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5" name="Google Shape;105;p6"/>
          <p:cNvSpPr/>
          <p:nvPr/>
        </p:nvSpPr>
        <p:spPr>
          <a:xfrm>
            <a:off x="4761688" y="1279776"/>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Processing / Analysis</a:t>
            </a:r>
            <a:endParaRPr sz="1600">
              <a:solidFill>
                <a:schemeClr val="dk1"/>
              </a:solidFill>
              <a:latin typeface="Lato"/>
              <a:ea typeface="Lato"/>
              <a:cs typeface="Lato"/>
              <a:sym typeface="Lato"/>
            </a:endParaRPr>
          </a:p>
        </p:txBody>
      </p:sp>
      <p:sp>
        <p:nvSpPr>
          <p:cNvPr id="106" name="Google Shape;106;p6"/>
          <p:cNvSpPr/>
          <p:nvPr/>
        </p:nvSpPr>
        <p:spPr>
          <a:xfrm>
            <a:off x="4572000" y="1700400"/>
            <a:ext cx="4439700" cy="1188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lang="en-US" sz="1600">
                <a:solidFill>
                  <a:schemeClr val="dk1"/>
                </a:solidFill>
                <a:latin typeface="Times New Roman"/>
                <a:ea typeface="Times New Roman"/>
                <a:cs typeface="Times New Roman"/>
                <a:sym typeface="Times New Roman"/>
              </a:rPr>
              <a:t>Human </a:t>
            </a:r>
            <a:r>
              <a:rPr lang="en-US" sz="1600">
                <a:solidFill>
                  <a:schemeClr val="dk1"/>
                </a:solidFill>
                <a:latin typeface="Times New Roman"/>
                <a:ea typeface="Times New Roman"/>
                <a:cs typeface="Times New Roman"/>
                <a:sym typeface="Times New Roman"/>
              </a:rPr>
              <a:t>intervention</a:t>
            </a:r>
            <a:r>
              <a:rPr lang="en-US" sz="1600">
                <a:solidFill>
                  <a:schemeClr val="dk1"/>
                </a:solidFill>
                <a:latin typeface="Times New Roman"/>
                <a:ea typeface="Times New Roman"/>
                <a:cs typeface="Times New Roman"/>
                <a:sym typeface="Times New Roman"/>
              </a:rPr>
              <a:t> is required to check the accuracy of the simpfied and </a:t>
            </a:r>
            <a:r>
              <a:rPr lang="en-US" sz="1600">
                <a:solidFill>
                  <a:schemeClr val="dk1"/>
                </a:solidFill>
                <a:latin typeface="Times New Roman"/>
                <a:ea typeface="Times New Roman"/>
                <a:cs typeface="Times New Roman"/>
                <a:sym typeface="Times New Roman"/>
              </a:rPr>
              <a:t>translated</a:t>
            </a:r>
            <a:r>
              <a:rPr lang="en-US" sz="1600">
                <a:solidFill>
                  <a:schemeClr val="dk1"/>
                </a:solidFill>
                <a:latin typeface="Times New Roman"/>
                <a:ea typeface="Times New Roman"/>
                <a:cs typeface="Times New Roman"/>
                <a:sym typeface="Times New Roman"/>
              </a:rPr>
              <a:t> output so that the essence of the law is not dliuted, Validated outputs using legal experts or para-legal reviewers.</a:t>
            </a:r>
            <a:endParaRPr sz="1600">
              <a:solidFill>
                <a:schemeClr val="dk1"/>
              </a:solidFill>
              <a:latin typeface="Times New Roman"/>
              <a:ea typeface="Times New Roman"/>
              <a:cs typeface="Times New Roman"/>
              <a:sym typeface="Times New Roman"/>
            </a:endParaRPr>
          </a:p>
        </p:txBody>
      </p:sp>
      <p:sp>
        <p:nvSpPr>
          <p:cNvPr id="107" name="Google Shape;107;p6"/>
          <p:cNvSpPr/>
          <p:nvPr/>
        </p:nvSpPr>
        <p:spPr>
          <a:xfrm>
            <a:off x="235408" y="2969856"/>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8" name="Google Shape;108;p6"/>
          <p:cNvSpPr/>
          <p:nvPr/>
        </p:nvSpPr>
        <p:spPr>
          <a:xfrm>
            <a:off x="4167328" y="2969856"/>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09" name="Google Shape;109;p6"/>
          <p:cNvSpPr/>
          <p:nvPr/>
        </p:nvSpPr>
        <p:spPr>
          <a:xfrm>
            <a:off x="326848" y="3006432"/>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AI / Tool Integration</a:t>
            </a:r>
            <a:endParaRPr sz="1600">
              <a:solidFill>
                <a:schemeClr val="dk1"/>
              </a:solidFill>
              <a:latin typeface="Lato"/>
              <a:ea typeface="Lato"/>
              <a:cs typeface="Lato"/>
              <a:sym typeface="Lato"/>
            </a:endParaRPr>
          </a:p>
        </p:txBody>
      </p:sp>
      <p:sp>
        <p:nvSpPr>
          <p:cNvPr id="110" name="Google Shape;110;p6"/>
          <p:cNvSpPr/>
          <p:nvPr/>
        </p:nvSpPr>
        <p:spPr>
          <a:xfrm>
            <a:off x="326850" y="3427048"/>
            <a:ext cx="4023300" cy="1545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b="1" lang="en-US" sz="1900">
                <a:solidFill>
                  <a:schemeClr val="dk1"/>
                </a:solidFill>
                <a:latin typeface="Times New Roman"/>
                <a:ea typeface="Times New Roman"/>
                <a:cs typeface="Times New Roman"/>
                <a:sym typeface="Times New Roman"/>
              </a:rPr>
              <a:t>Excel</a:t>
            </a:r>
            <a:r>
              <a:rPr lang="en-US" sz="1900">
                <a:solidFill>
                  <a:schemeClr val="dk1"/>
                </a:solidFill>
                <a:latin typeface="Times New Roman"/>
                <a:ea typeface="Times New Roman"/>
                <a:cs typeface="Times New Roman"/>
                <a:sym typeface="Times New Roman"/>
              </a:rPr>
              <a:t> is used to organize the sections of the law, and translations in tabular form &amp;</a:t>
            </a:r>
            <a:r>
              <a:rPr b="1" lang="en-US" sz="1900">
                <a:solidFill>
                  <a:schemeClr val="dk1"/>
                </a:solidFill>
                <a:latin typeface="Times New Roman"/>
                <a:ea typeface="Times New Roman"/>
                <a:cs typeface="Times New Roman"/>
                <a:sym typeface="Times New Roman"/>
              </a:rPr>
              <a:t> Microsoft Copilot Studio</a:t>
            </a:r>
            <a:r>
              <a:rPr lang="en-US" sz="1900">
                <a:solidFill>
                  <a:schemeClr val="dk1"/>
                </a:solidFill>
                <a:latin typeface="Times New Roman"/>
                <a:ea typeface="Times New Roman"/>
                <a:cs typeface="Times New Roman"/>
                <a:sym typeface="Times New Roman"/>
              </a:rPr>
              <a:t> is used to create the chatbot that interacts with the users</a:t>
            </a:r>
            <a:endParaRPr sz="2400">
              <a:solidFill>
                <a:schemeClr val="dk1"/>
              </a:solidFill>
              <a:latin typeface="Times New Roman"/>
              <a:ea typeface="Times New Roman"/>
              <a:cs typeface="Times New Roman"/>
              <a:sym typeface="Times New Roman"/>
            </a:endParaRPr>
          </a:p>
        </p:txBody>
      </p:sp>
      <p:sp>
        <p:nvSpPr>
          <p:cNvPr id="111" name="Google Shape;111;p6"/>
          <p:cNvSpPr/>
          <p:nvPr/>
        </p:nvSpPr>
        <p:spPr>
          <a:xfrm>
            <a:off x="4670248" y="2969856"/>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2" name="Google Shape;112;p6"/>
          <p:cNvSpPr/>
          <p:nvPr/>
        </p:nvSpPr>
        <p:spPr>
          <a:xfrm>
            <a:off x="8602168" y="2969856"/>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3" name="Google Shape;113;p6"/>
          <p:cNvSpPr/>
          <p:nvPr/>
        </p:nvSpPr>
        <p:spPr>
          <a:xfrm>
            <a:off x="4761688" y="3006432"/>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Output / Dashboard</a:t>
            </a:r>
            <a:endParaRPr sz="1600">
              <a:solidFill>
                <a:schemeClr val="dk1"/>
              </a:solidFill>
              <a:latin typeface="Lato"/>
              <a:ea typeface="Lato"/>
              <a:cs typeface="Lato"/>
              <a:sym typeface="Lato"/>
            </a:endParaRPr>
          </a:p>
        </p:txBody>
      </p:sp>
      <p:sp>
        <p:nvSpPr>
          <p:cNvPr id="114" name="Google Shape;114;p6"/>
          <p:cNvSpPr/>
          <p:nvPr/>
        </p:nvSpPr>
        <p:spPr>
          <a:xfrm>
            <a:off x="4761700" y="3427049"/>
            <a:ext cx="4023300" cy="1545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600"/>
              <a:buFont typeface="Lato"/>
              <a:buNone/>
            </a:pPr>
            <a:r>
              <a:rPr lang="en-US" sz="2000">
                <a:solidFill>
                  <a:schemeClr val="dk1"/>
                </a:solidFill>
                <a:latin typeface="Times New Roman"/>
                <a:ea typeface="Times New Roman"/>
                <a:cs typeface="Times New Roman"/>
                <a:sym typeface="Times New Roman"/>
              </a:rPr>
              <a:t>A </a:t>
            </a:r>
            <a:r>
              <a:rPr b="1" lang="en-US" sz="2000">
                <a:solidFill>
                  <a:schemeClr val="dk1"/>
                </a:solidFill>
                <a:latin typeface="Times New Roman"/>
                <a:ea typeface="Times New Roman"/>
                <a:cs typeface="Times New Roman"/>
                <a:sym typeface="Times New Roman"/>
              </a:rPr>
              <a:t>chatbot interface</a:t>
            </a:r>
            <a:r>
              <a:rPr lang="en-US" sz="2000">
                <a:solidFill>
                  <a:schemeClr val="dk1"/>
                </a:solidFill>
                <a:latin typeface="Times New Roman"/>
                <a:ea typeface="Times New Roman"/>
                <a:cs typeface="Times New Roman"/>
                <a:sym typeface="Times New Roman"/>
              </a:rPr>
              <a:t> that answers legal questions with respect to POSH Act and </a:t>
            </a:r>
            <a:r>
              <a:rPr lang="en-US" sz="2000">
                <a:solidFill>
                  <a:schemeClr val="dk1"/>
                </a:solidFill>
                <a:latin typeface="Times New Roman"/>
                <a:ea typeface="Times New Roman"/>
                <a:cs typeface="Times New Roman"/>
                <a:sym typeface="Times New Roman"/>
              </a:rPr>
              <a:t>provides</a:t>
            </a:r>
            <a:r>
              <a:rPr lang="en-US" sz="2000">
                <a:solidFill>
                  <a:schemeClr val="dk1"/>
                </a:solidFill>
                <a:latin typeface="Times New Roman"/>
                <a:ea typeface="Times New Roman"/>
                <a:cs typeface="Times New Roman"/>
                <a:sym typeface="Times New Roman"/>
              </a:rPr>
              <a:t> explanations of laws in Kannada language as well.</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1A1A2E"/>
              </a:buClr>
              <a:buSzPts val="1600"/>
              <a:buFont typeface="Lato"/>
              <a:buNone/>
            </a:pPr>
            <a:r>
              <a:t/>
            </a:r>
            <a:endParaRPr sz="1600">
              <a:solidFill>
                <a:srgbClr val="1A1A2E"/>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dee072747e_0_1"/>
          <p:cNvPicPr preferRelativeResize="0"/>
          <p:nvPr/>
        </p:nvPicPr>
        <p:blipFill>
          <a:blip r:embed="rId3">
            <a:alphaModFix/>
          </a:blip>
          <a:stretch>
            <a:fillRect/>
          </a:stretch>
        </p:blipFill>
        <p:spPr>
          <a:xfrm>
            <a:off x="2147025" y="510700"/>
            <a:ext cx="5534349" cy="46327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g3e005f734a9_0_8"/>
          <p:cNvSpPr/>
          <p:nvPr/>
        </p:nvSpPr>
        <p:spPr>
          <a:xfrm>
            <a:off x="120623" y="607298"/>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                                                                    </a:t>
            </a:r>
            <a:r>
              <a:rPr b="1" lang="en-US" sz="2500">
                <a:solidFill>
                  <a:srgbClr val="1B3A8A"/>
                </a:solidFill>
                <a:latin typeface="Lato"/>
                <a:ea typeface="Lato"/>
                <a:cs typeface="Lato"/>
                <a:sym typeface="Lato"/>
              </a:rPr>
              <a:t>  Data Set</a:t>
            </a:r>
            <a:endParaRPr sz="2500">
              <a:solidFill>
                <a:schemeClr val="dk1"/>
              </a:solidFill>
              <a:latin typeface="Lato"/>
              <a:ea typeface="Lato"/>
              <a:cs typeface="Lato"/>
              <a:sym typeface="Lato"/>
            </a:endParaRPr>
          </a:p>
        </p:txBody>
      </p:sp>
      <p:sp>
        <p:nvSpPr>
          <p:cNvPr id="126" name="Google Shape;126;g3e005f734a9_0_8"/>
          <p:cNvSpPr/>
          <p:nvPr/>
        </p:nvSpPr>
        <p:spPr>
          <a:xfrm>
            <a:off x="390500" y="1352550"/>
            <a:ext cx="8565300" cy="3651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pic>
        <p:nvPicPr>
          <p:cNvPr id="127" name="Google Shape;127;g3e005f734a9_0_8"/>
          <p:cNvPicPr preferRelativeResize="0"/>
          <p:nvPr/>
        </p:nvPicPr>
        <p:blipFill>
          <a:blip r:embed="rId3">
            <a:alphaModFix/>
          </a:blip>
          <a:stretch>
            <a:fillRect/>
          </a:stretch>
        </p:blipFill>
        <p:spPr>
          <a:xfrm>
            <a:off x="516525" y="1112550"/>
            <a:ext cx="7926852" cy="3828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p7"/>
          <p:cNvSpPr/>
          <p:nvPr/>
        </p:nvSpPr>
        <p:spPr>
          <a:xfrm>
            <a:off x="120623" y="607298"/>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Live Demo of Project</a:t>
            </a:r>
            <a:endParaRPr sz="2000">
              <a:solidFill>
                <a:schemeClr val="dk1"/>
              </a:solidFill>
              <a:latin typeface="Lato"/>
              <a:ea typeface="Lato"/>
              <a:cs typeface="Lato"/>
              <a:sym typeface="Lato"/>
            </a:endParaRPr>
          </a:p>
        </p:txBody>
      </p:sp>
      <p:sp>
        <p:nvSpPr>
          <p:cNvPr id="134" name="Google Shape;134;p7"/>
          <p:cNvSpPr/>
          <p:nvPr/>
        </p:nvSpPr>
        <p:spPr>
          <a:xfrm>
            <a:off x="125487" y="1105839"/>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ato"/>
              <a:buNone/>
            </a:pPr>
            <a:r>
              <a:rPr lang="en-US" sz="1800">
                <a:solidFill>
                  <a:schemeClr val="dk1"/>
                </a:solidFill>
                <a:latin typeface="Lato"/>
                <a:ea typeface="Lato"/>
                <a:cs typeface="Lato"/>
                <a:sym typeface="Lato"/>
              </a:rPr>
              <a:t>Here's the list of some demo screenshots / features of the project:</a:t>
            </a:r>
            <a:endParaRPr sz="1800">
              <a:solidFill>
                <a:schemeClr val="dk1"/>
              </a:solidFill>
              <a:latin typeface="Lato"/>
              <a:ea typeface="Lato"/>
              <a:cs typeface="Lato"/>
              <a:sym typeface="Lato"/>
            </a:endParaRPr>
          </a:p>
        </p:txBody>
      </p:sp>
      <p:sp>
        <p:nvSpPr>
          <p:cNvPr id="135" name="Google Shape;135;p7"/>
          <p:cNvSpPr/>
          <p:nvPr/>
        </p:nvSpPr>
        <p:spPr>
          <a:xfrm>
            <a:off x="978408"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6" name="Google Shape;136;p7"/>
          <p:cNvSpPr/>
          <p:nvPr/>
        </p:nvSpPr>
        <p:spPr>
          <a:xfrm>
            <a:off x="274320" y="2196877"/>
            <a:ext cx="2788920" cy="2651760"/>
          </a:xfrm>
          <a:prstGeom prst="rect">
            <a:avLst/>
          </a:prstGeom>
          <a:solidFill>
            <a:srgbClr val="D8E2F3"/>
          </a:solidFill>
          <a:ln>
            <a:noFill/>
          </a:ln>
          <a:effectLst>
            <a:outerShdw blurRad="101600" rotWithShape="0" algn="bl" dir="8100000" dist="38100">
              <a:srgbClr val="000000">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7" name="Google Shape;137;p7"/>
          <p:cNvSpPr/>
          <p:nvPr/>
        </p:nvSpPr>
        <p:spPr>
          <a:xfrm>
            <a:off x="274320" y="2413802"/>
            <a:ext cx="278892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1</a:t>
            </a:r>
            <a:endParaRPr sz="1600">
              <a:solidFill>
                <a:schemeClr val="dk1"/>
              </a:solidFill>
              <a:latin typeface="Lato"/>
              <a:ea typeface="Lato"/>
              <a:cs typeface="Lato"/>
              <a:sym typeface="Lato"/>
            </a:endParaRPr>
          </a:p>
        </p:txBody>
      </p:sp>
      <p:sp>
        <p:nvSpPr>
          <p:cNvPr id="138" name="Google Shape;138;p7"/>
          <p:cNvSpPr/>
          <p:nvPr/>
        </p:nvSpPr>
        <p:spPr>
          <a:xfrm>
            <a:off x="411480" y="2919838"/>
            <a:ext cx="2514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Shows how the chatbot answers basic questions on POSH Act in simple language . </a:t>
            </a:r>
            <a:endParaRPr sz="1800">
              <a:solidFill>
                <a:schemeClr val="dk1"/>
              </a:solidFill>
              <a:latin typeface="Times New Roman"/>
              <a:ea typeface="Times New Roman"/>
              <a:cs typeface="Times New Roman"/>
              <a:sym typeface="Times New Roman"/>
            </a:endParaRPr>
          </a:p>
        </p:txBody>
      </p:sp>
      <p:pic>
        <p:nvPicPr>
          <p:cNvPr id="139" name="Google Shape;139;p7"/>
          <p:cNvPicPr preferRelativeResize="0"/>
          <p:nvPr/>
        </p:nvPicPr>
        <p:blipFill>
          <a:blip r:embed="rId3">
            <a:alphaModFix/>
          </a:blip>
          <a:stretch>
            <a:fillRect/>
          </a:stretch>
        </p:blipFill>
        <p:spPr>
          <a:xfrm>
            <a:off x="3215650" y="1578274"/>
            <a:ext cx="5775952" cy="32703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g3e005f734a9_0_50"/>
          <p:cNvSpPr/>
          <p:nvPr/>
        </p:nvSpPr>
        <p:spPr>
          <a:xfrm>
            <a:off x="120623" y="607298"/>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t/>
            </a:r>
            <a:endParaRPr sz="2000">
              <a:solidFill>
                <a:schemeClr val="dk1"/>
              </a:solidFill>
              <a:latin typeface="Lato"/>
              <a:ea typeface="Lato"/>
              <a:cs typeface="Lato"/>
              <a:sym typeface="Lato"/>
            </a:endParaRPr>
          </a:p>
        </p:txBody>
      </p:sp>
      <p:sp>
        <p:nvSpPr>
          <p:cNvPr id="146" name="Google Shape;146;g3e005f734a9_0_50"/>
          <p:cNvSpPr/>
          <p:nvPr/>
        </p:nvSpPr>
        <p:spPr>
          <a:xfrm>
            <a:off x="978408"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47" name="Google Shape;147;g3e005f734a9_0_50"/>
          <p:cNvSpPr/>
          <p:nvPr/>
        </p:nvSpPr>
        <p:spPr>
          <a:xfrm>
            <a:off x="274320" y="2196877"/>
            <a:ext cx="2788800" cy="2651700"/>
          </a:xfrm>
          <a:prstGeom prst="rect">
            <a:avLst/>
          </a:prstGeom>
          <a:solidFill>
            <a:srgbClr val="D8E2F3"/>
          </a:solidFill>
          <a:ln>
            <a:noFill/>
          </a:ln>
          <a:effectLst>
            <a:outerShdw blurRad="101600" rotWithShape="0" algn="bl" dir="8100000" dist="38100">
              <a:srgbClr val="000000">
                <a:alpha val="1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48" name="Google Shape;148;g3e005f734a9_0_50"/>
          <p:cNvSpPr/>
          <p:nvPr/>
        </p:nvSpPr>
        <p:spPr>
          <a:xfrm>
            <a:off x="274320" y="2413802"/>
            <a:ext cx="27888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2</a:t>
            </a:r>
            <a:endParaRPr sz="1600">
              <a:solidFill>
                <a:schemeClr val="dk1"/>
              </a:solidFill>
              <a:latin typeface="Lato"/>
              <a:ea typeface="Lato"/>
              <a:cs typeface="Lato"/>
              <a:sym typeface="Lato"/>
            </a:endParaRPr>
          </a:p>
        </p:txBody>
      </p:sp>
      <p:sp>
        <p:nvSpPr>
          <p:cNvPr id="149" name="Google Shape;149;g3e005f734a9_0_50"/>
          <p:cNvSpPr/>
          <p:nvPr/>
        </p:nvSpPr>
        <p:spPr>
          <a:xfrm>
            <a:off x="411480" y="2919838"/>
            <a:ext cx="2514600" cy="137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Shows how the chatbot answers basic questions on POSH Act in Kannada language </a:t>
            </a:r>
            <a:endParaRPr sz="1800">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600"/>
              <a:buFont typeface="Lato"/>
              <a:buNone/>
            </a:pPr>
            <a:r>
              <a:rPr lang="en-US" sz="1600">
                <a:solidFill>
                  <a:schemeClr val="dk1"/>
                </a:solidFill>
                <a:latin typeface="Lato"/>
                <a:ea typeface="Lato"/>
                <a:cs typeface="Lato"/>
                <a:sym typeface="Lato"/>
              </a:rPr>
              <a:t> </a:t>
            </a:r>
            <a:endParaRPr/>
          </a:p>
        </p:txBody>
      </p:sp>
      <p:pic>
        <p:nvPicPr>
          <p:cNvPr id="150" name="Google Shape;150;g3e005f734a9_0_50"/>
          <p:cNvPicPr preferRelativeResize="0"/>
          <p:nvPr/>
        </p:nvPicPr>
        <p:blipFill>
          <a:blip r:embed="rId3">
            <a:alphaModFix/>
          </a:blip>
          <a:stretch>
            <a:fillRect/>
          </a:stretch>
        </p:blipFill>
        <p:spPr>
          <a:xfrm>
            <a:off x="3215525" y="607300"/>
            <a:ext cx="5614148" cy="4241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g3e005f734a9_0_31"/>
          <p:cNvSpPr/>
          <p:nvPr/>
        </p:nvSpPr>
        <p:spPr>
          <a:xfrm>
            <a:off x="978408"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57" name="Google Shape;157;g3e005f734a9_0_31"/>
          <p:cNvSpPr/>
          <p:nvPr/>
        </p:nvSpPr>
        <p:spPr>
          <a:xfrm>
            <a:off x="274325" y="2196876"/>
            <a:ext cx="2788800" cy="1843500"/>
          </a:xfrm>
          <a:prstGeom prst="rect">
            <a:avLst/>
          </a:prstGeom>
          <a:solidFill>
            <a:srgbClr val="D8E2F3"/>
          </a:solidFill>
          <a:ln>
            <a:noFill/>
          </a:ln>
          <a:effectLst>
            <a:outerShdw blurRad="101600" rotWithShape="0" algn="bl" dir="8100000" dist="38100">
              <a:srgbClr val="000000">
                <a:alpha val="1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58" name="Google Shape;158;g3e005f734a9_0_31"/>
          <p:cNvSpPr/>
          <p:nvPr/>
        </p:nvSpPr>
        <p:spPr>
          <a:xfrm>
            <a:off x="274320" y="2413802"/>
            <a:ext cx="27888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3</a:t>
            </a:r>
            <a:endParaRPr sz="1600">
              <a:solidFill>
                <a:schemeClr val="dk1"/>
              </a:solidFill>
              <a:latin typeface="Lato"/>
              <a:ea typeface="Lato"/>
              <a:cs typeface="Lato"/>
              <a:sym typeface="Lato"/>
            </a:endParaRPr>
          </a:p>
        </p:txBody>
      </p:sp>
      <p:sp>
        <p:nvSpPr>
          <p:cNvPr id="159" name="Google Shape;159;g3e005f734a9_0_31"/>
          <p:cNvSpPr/>
          <p:nvPr/>
        </p:nvSpPr>
        <p:spPr>
          <a:xfrm>
            <a:off x="411480" y="2919838"/>
            <a:ext cx="2514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lang="en-US" sz="1800">
                <a:solidFill>
                  <a:schemeClr val="dk1"/>
                </a:solidFill>
                <a:latin typeface="Times New Roman"/>
                <a:ea typeface="Times New Roman"/>
                <a:cs typeface="Times New Roman"/>
                <a:sym typeface="Times New Roman"/>
              </a:rPr>
              <a:t> Chatbot homepage (pre-launch)</a:t>
            </a:r>
            <a:endParaRPr sz="1800">
              <a:solidFill>
                <a:schemeClr val="dk1"/>
              </a:solidFill>
              <a:latin typeface="Times New Roman"/>
              <a:ea typeface="Times New Roman"/>
              <a:cs typeface="Times New Roman"/>
              <a:sym typeface="Times New Roman"/>
            </a:endParaRPr>
          </a:p>
        </p:txBody>
      </p:sp>
      <p:pic>
        <p:nvPicPr>
          <p:cNvPr id="160" name="Google Shape;160;g3e005f734a9_0_31"/>
          <p:cNvPicPr preferRelativeResize="0"/>
          <p:nvPr/>
        </p:nvPicPr>
        <p:blipFill>
          <a:blip r:embed="rId3">
            <a:alphaModFix/>
          </a:blip>
          <a:stretch>
            <a:fillRect/>
          </a:stretch>
        </p:blipFill>
        <p:spPr>
          <a:xfrm>
            <a:off x="3215525" y="853625"/>
            <a:ext cx="5776076" cy="38762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8"/>
          <p:cNvSpPr/>
          <p:nvPr/>
        </p:nvSpPr>
        <p:spPr>
          <a:xfrm>
            <a:off x="320040" y="621792"/>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200"/>
              <a:buFont typeface="Calibri"/>
              <a:buNone/>
            </a:pPr>
            <a:r>
              <a:rPr b="1" lang="en-US" sz="2200">
                <a:solidFill>
                  <a:srgbClr val="1B3A8A"/>
                </a:solidFill>
                <a:latin typeface="Calibri"/>
                <a:ea typeface="Calibri"/>
                <a:cs typeface="Calibri"/>
                <a:sym typeface="Calibri"/>
              </a:rPr>
              <a:t>Video of Project Demo</a:t>
            </a:r>
            <a:endParaRPr sz="2200">
              <a:solidFill>
                <a:schemeClr val="dk1"/>
              </a:solidFill>
              <a:latin typeface="Calibri"/>
              <a:ea typeface="Calibri"/>
              <a:cs typeface="Calibri"/>
              <a:sym typeface="Calibri"/>
            </a:endParaRPr>
          </a:p>
        </p:txBody>
      </p:sp>
      <p:sp>
        <p:nvSpPr>
          <p:cNvPr id="167" name="Google Shape;167;p8"/>
          <p:cNvSpPr/>
          <p:nvPr/>
        </p:nvSpPr>
        <p:spPr>
          <a:xfrm>
            <a:off x="365760" y="685800"/>
            <a:ext cx="8412480" cy="3977640"/>
          </a:xfrm>
          <a:prstGeom prst="rect">
            <a:avLst/>
          </a:prstGeom>
          <a:solidFill>
            <a:srgbClr val="ECEFF1"/>
          </a:solidFill>
          <a:ln cap="flat" cmpd="sng" w="25400">
            <a:solidFill>
              <a:srgbClr val="1B3A8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8"/>
          <p:cNvSpPr/>
          <p:nvPr/>
        </p:nvSpPr>
        <p:spPr>
          <a:xfrm>
            <a:off x="365760" y="685800"/>
            <a:ext cx="8412480" cy="384048"/>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
          <p:cNvSpPr/>
          <p:nvPr/>
        </p:nvSpPr>
        <p:spPr>
          <a:xfrm>
            <a:off x="502920" y="777240"/>
            <a:ext cx="164592" cy="164592"/>
          </a:xfrm>
          <a:prstGeom prst="ellipse">
            <a:avLst/>
          </a:prstGeom>
          <a:solidFill>
            <a:srgbClr val="FF5F5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8"/>
          <p:cNvSpPr/>
          <p:nvPr/>
        </p:nvSpPr>
        <p:spPr>
          <a:xfrm>
            <a:off x="731520" y="777240"/>
            <a:ext cx="164592" cy="164592"/>
          </a:xfrm>
          <a:prstGeom prst="ellipse">
            <a:avLst/>
          </a:prstGeom>
          <a:solidFill>
            <a:srgbClr val="FEBC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8"/>
          <p:cNvSpPr/>
          <p:nvPr/>
        </p:nvSpPr>
        <p:spPr>
          <a:xfrm>
            <a:off x="960120" y="777240"/>
            <a:ext cx="164592" cy="164592"/>
          </a:xfrm>
          <a:prstGeom prst="ellipse">
            <a:avLst/>
          </a:prstGeom>
          <a:solidFill>
            <a:srgbClr val="28C8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8"/>
          <p:cNvSpPr/>
          <p:nvPr/>
        </p:nvSpPr>
        <p:spPr>
          <a:xfrm>
            <a:off x="1371600" y="777240"/>
            <a:ext cx="5029200" cy="201168"/>
          </a:xfrm>
          <a:prstGeom prst="rect">
            <a:avLst/>
          </a:prstGeom>
          <a:solidFill>
            <a:srgbClr val="FFFFFF"/>
          </a:solidFill>
          <a:ln cap="flat" cmpd="sng" w="9525">
            <a:solidFill>
              <a:srgbClr val="CCCC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8"/>
          <p:cNvSpPr/>
          <p:nvPr/>
        </p:nvSpPr>
        <p:spPr>
          <a:xfrm>
            <a:off x="1389905" y="768106"/>
            <a:ext cx="68397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7D8B"/>
              </a:buClr>
              <a:buSzPts val="900"/>
              <a:buFont typeface="Calibri"/>
              <a:buNone/>
            </a:pPr>
            <a:r>
              <a:rPr lang="en-US" sz="900">
                <a:solidFill>
                  <a:schemeClr val="dk1"/>
                </a:solidFill>
                <a:latin typeface="Calibri"/>
                <a:ea typeface="Calibri"/>
                <a:cs typeface="Calibri"/>
                <a:sym typeface="Calibri"/>
              </a:rPr>
              <a:t>https://drive.google.com/file/d/1EN3YkvJZm1Wly5CzBoAWhumGUpAamztN/view?usp=sharing </a:t>
            </a:r>
            <a:endParaRPr sz="900">
              <a:solidFill>
                <a:schemeClr val="dk1"/>
              </a:solidFill>
              <a:latin typeface="Calibri"/>
              <a:ea typeface="Calibri"/>
              <a:cs typeface="Calibri"/>
              <a:sym typeface="Calibri"/>
            </a:endParaRPr>
          </a:p>
        </p:txBody>
      </p:sp>
      <p:sp>
        <p:nvSpPr>
          <p:cNvPr id="174" name="Google Shape;174;p8"/>
          <p:cNvSpPr/>
          <p:nvPr/>
        </p:nvSpPr>
        <p:spPr>
          <a:xfrm>
            <a:off x="3749040" y="1828800"/>
            <a:ext cx="1645920" cy="1645920"/>
          </a:xfrm>
          <a:prstGeom prst="ellipse">
            <a:avLst/>
          </a:prstGeom>
          <a:solidFill>
            <a:srgbClr val="1B3A8A">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8"/>
          <p:cNvSpPr/>
          <p:nvPr/>
        </p:nvSpPr>
        <p:spPr>
          <a:xfrm>
            <a:off x="3749040" y="1828800"/>
            <a:ext cx="1645920" cy="1645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a:t>
            </a:r>
            <a:endParaRPr sz="4800">
              <a:solidFill>
                <a:schemeClr val="dk1"/>
              </a:solidFill>
              <a:latin typeface="Calibri"/>
              <a:ea typeface="Calibri"/>
              <a:cs typeface="Calibri"/>
              <a:sym typeface="Calibri"/>
            </a:endParaRPr>
          </a:p>
        </p:txBody>
      </p:sp>
      <p:sp>
        <p:nvSpPr>
          <p:cNvPr id="176" name="Google Shape;176;p8"/>
          <p:cNvSpPr/>
          <p:nvPr/>
        </p:nvSpPr>
        <p:spPr>
          <a:xfrm>
            <a:off x="914400" y="3794760"/>
            <a:ext cx="7315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7D8B"/>
              </a:buClr>
              <a:buSzPts val="1100"/>
              <a:buFont typeface="Calibri"/>
              <a:buNone/>
            </a:pPr>
            <a:r>
              <a:rPr i="1" lang="en-US" sz="1100">
                <a:solidFill>
                  <a:srgbClr val="607D8B"/>
                </a:solidFill>
                <a:latin typeface="Calibri"/>
                <a:ea typeface="Calibri"/>
                <a:cs typeface="Calibri"/>
                <a:sym typeface="Calibri"/>
              </a:rPr>
              <a:t> https://drive.google.com/file/d/1EN3YkvJZm1Wly5CzBoAWhumGUpAamztN/view?usp=sharing</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p:nvPr/>
        </p:nvSpPr>
        <p:spPr>
          <a:xfrm>
            <a:off x="130351" y="612064"/>
            <a:ext cx="82296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3100">
                <a:solidFill>
                  <a:srgbClr val="1B3A8A"/>
                </a:solidFill>
                <a:latin typeface="Times New Roman"/>
                <a:ea typeface="Times New Roman"/>
                <a:cs typeface="Times New Roman"/>
                <a:sym typeface="Times New Roman"/>
              </a:rPr>
              <a:t>Conclusion</a:t>
            </a:r>
            <a:endParaRPr b="1" sz="3100">
              <a:solidFill>
                <a:schemeClr val="dk1"/>
              </a:solidFill>
              <a:latin typeface="Times New Roman"/>
              <a:ea typeface="Times New Roman"/>
              <a:cs typeface="Times New Roman"/>
              <a:sym typeface="Times New Roman"/>
            </a:endParaRPr>
          </a:p>
        </p:txBody>
      </p:sp>
      <p:sp>
        <p:nvSpPr>
          <p:cNvPr id="183" name="Google Shape;183;p9"/>
          <p:cNvSpPr/>
          <p:nvPr/>
        </p:nvSpPr>
        <p:spPr>
          <a:xfrm>
            <a:off x="125475" y="1352550"/>
            <a:ext cx="5316900" cy="3207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800"/>
              <a:buFont typeface="Lato"/>
              <a:buNone/>
            </a:pPr>
            <a:r>
              <a:rPr lang="en-US" sz="2200">
                <a:solidFill>
                  <a:schemeClr val="dk1"/>
                </a:solidFill>
                <a:latin typeface="Times New Roman"/>
                <a:ea typeface="Times New Roman"/>
                <a:cs typeface="Times New Roman"/>
                <a:sym typeface="Times New Roman"/>
              </a:rPr>
              <a:t>This project successfully developed a multilingual legal chatbot using Microsoft Copilot Studio to simplify and translate key provisions of </a:t>
            </a:r>
            <a:r>
              <a:rPr i="1" lang="en-US" sz="2200">
                <a:solidFill>
                  <a:schemeClr val="dk1"/>
                </a:solidFill>
                <a:highlight>
                  <a:srgbClr val="FFFFFF"/>
                </a:highlight>
                <a:latin typeface="Times New Roman"/>
                <a:ea typeface="Times New Roman"/>
                <a:cs typeface="Times New Roman"/>
                <a:sym typeface="Times New Roman"/>
              </a:rPr>
              <a:t>The Sexual Harassment of Women at Workplace (Prevention, Prohibition and Redressal) Act, 2013, known as the POSH Act,</a:t>
            </a:r>
            <a:r>
              <a:rPr lang="en-US" sz="2200">
                <a:solidFill>
                  <a:schemeClr val="dk1"/>
                </a:solidFill>
                <a:highlight>
                  <a:srgbClr val="FFFFFF"/>
                </a:highlight>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into simplified English &amp;  accessible Kannada language.</a:t>
            </a:r>
            <a:endParaRPr sz="2200">
              <a:solidFill>
                <a:schemeClr val="dk1"/>
              </a:solidFill>
              <a:latin typeface="Times New Roman"/>
              <a:ea typeface="Times New Roman"/>
              <a:cs typeface="Times New Roman"/>
              <a:sym typeface="Times New Roman"/>
            </a:endParaRPr>
          </a:p>
        </p:txBody>
      </p:sp>
      <p:sp>
        <p:nvSpPr>
          <p:cNvPr id="184" name="Google Shape;184;p9"/>
          <p:cNvSpPr/>
          <p:nvPr/>
        </p:nvSpPr>
        <p:spPr>
          <a:xfrm>
            <a:off x="5303520" y="3474720"/>
            <a:ext cx="30175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Lato"/>
              <a:buNone/>
            </a:pPr>
            <a:r>
              <a:rPr b="1" lang="en-US" sz="1600">
                <a:solidFill>
                  <a:srgbClr val="FFFFFF"/>
                </a:solidFill>
                <a:latin typeface="Lato"/>
                <a:ea typeface="Lato"/>
                <a:cs typeface="Lato"/>
                <a:sym typeface="Lato"/>
              </a:rPr>
              <a:t>CONCLUSION</a:t>
            </a:r>
            <a:endParaRPr sz="1600">
              <a:solidFill>
                <a:schemeClr val="dk1"/>
              </a:solidFill>
              <a:latin typeface="Lato"/>
              <a:ea typeface="Lato"/>
              <a:cs typeface="Lato"/>
              <a:sym typeface="Lato"/>
            </a:endParaRPr>
          </a:p>
        </p:txBody>
      </p:sp>
      <p:pic>
        <p:nvPicPr>
          <p:cNvPr id="185" name="Google Shape;185;p9"/>
          <p:cNvPicPr preferRelativeResize="0"/>
          <p:nvPr/>
        </p:nvPicPr>
        <p:blipFill>
          <a:blip r:embed="rId3">
            <a:alphaModFix/>
          </a:blip>
          <a:stretch>
            <a:fillRect/>
          </a:stretch>
        </p:blipFill>
        <p:spPr>
          <a:xfrm>
            <a:off x="5895950" y="1352550"/>
            <a:ext cx="3017526" cy="3207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p:nvPr/>
        </p:nvSpPr>
        <p:spPr>
          <a:xfrm>
            <a:off x="123247" y="613561"/>
            <a:ext cx="8229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3A8A"/>
              </a:buClr>
              <a:buSzPts val="2000"/>
              <a:buFont typeface="Lato"/>
              <a:buNone/>
            </a:pPr>
            <a:r>
              <a:rPr b="1" lang="en-US" sz="2700">
                <a:solidFill>
                  <a:srgbClr val="1B3A8A"/>
                </a:solidFill>
                <a:latin typeface="Lato"/>
                <a:ea typeface="Lato"/>
                <a:cs typeface="Lato"/>
                <a:sym typeface="Lato"/>
              </a:rPr>
              <a:t>Future Scope</a:t>
            </a:r>
            <a:endParaRPr sz="2700">
              <a:solidFill>
                <a:schemeClr val="dk1"/>
              </a:solidFill>
              <a:latin typeface="Lato"/>
              <a:ea typeface="Lato"/>
              <a:cs typeface="Lato"/>
              <a:sym typeface="Lato"/>
            </a:endParaRPr>
          </a:p>
        </p:txBody>
      </p:sp>
      <p:sp>
        <p:nvSpPr>
          <p:cNvPr id="192" name="Google Shape;192;p10"/>
          <p:cNvSpPr/>
          <p:nvPr/>
        </p:nvSpPr>
        <p:spPr>
          <a:xfrm>
            <a:off x="123247" y="1082104"/>
            <a:ext cx="4114800" cy="347472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1A1A2E"/>
              </a:buClr>
              <a:buSzPts val="1800"/>
              <a:buFont typeface="Lato"/>
              <a:buNone/>
            </a:pPr>
            <a:r>
              <a:t/>
            </a:r>
            <a:endParaRPr sz="24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rgbClr val="1A1A2E"/>
              </a:buClr>
              <a:buSzPts val="1800"/>
              <a:buFont typeface="Lato"/>
              <a:buNone/>
            </a:pPr>
            <a:r>
              <a:rPr lang="en-US" sz="2400">
                <a:solidFill>
                  <a:schemeClr val="dk1"/>
                </a:solidFill>
                <a:latin typeface="Times New Roman"/>
                <a:ea typeface="Times New Roman"/>
                <a:cs typeface="Times New Roman"/>
                <a:sym typeface="Times New Roman"/>
              </a:rPr>
              <a:t>The </a:t>
            </a:r>
            <a:r>
              <a:rPr lang="en-US" sz="2400">
                <a:solidFill>
                  <a:schemeClr val="dk1"/>
                </a:solidFill>
                <a:latin typeface="Times New Roman"/>
                <a:ea typeface="Times New Roman"/>
                <a:cs typeface="Times New Roman"/>
                <a:sym typeface="Times New Roman"/>
              </a:rPr>
              <a:t>project</a:t>
            </a:r>
            <a:r>
              <a:rPr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 can be extended to more laws and languages, making it a useful and impactful legal-tech innovation, </a:t>
            </a:r>
            <a:r>
              <a:rPr lang="en-US" sz="2400">
                <a:solidFill>
                  <a:schemeClr val="dk1"/>
                </a:solidFill>
                <a:highlight>
                  <a:schemeClr val="lt1"/>
                </a:highlight>
                <a:latin typeface="Times New Roman"/>
                <a:ea typeface="Times New Roman"/>
                <a:cs typeface="Times New Roman"/>
                <a:sym typeface="Times New Roman"/>
              </a:rPr>
              <a:t>targeting states with low literacy and limited legal aid access. </a:t>
            </a:r>
            <a:endParaRPr sz="2400">
              <a:solidFill>
                <a:schemeClr val="dk1"/>
              </a:solidFill>
              <a:latin typeface="Times New Roman"/>
              <a:ea typeface="Times New Roman"/>
              <a:cs typeface="Times New Roman"/>
              <a:sym typeface="Times New Roman"/>
            </a:endParaRPr>
          </a:p>
        </p:txBody>
      </p:sp>
      <p:pic>
        <p:nvPicPr>
          <p:cNvPr id="193" name="Google Shape;193;p10"/>
          <p:cNvPicPr preferRelativeResize="0"/>
          <p:nvPr/>
        </p:nvPicPr>
        <p:blipFill rotWithShape="1">
          <a:blip r:embed="rId3">
            <a:alphaModFix/>
          </a:blip>
          <a:srcRect b="0" l="0" r="0" t="0"/>
          <a:stretch/>
        </p:blipFill>
        <p:spPr>
          <a:xfrm>
            <a:off x="4631635" y="879613"/>
            <a:ext cx="4512365" cy="33842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1"/>
          <p:cNvSpPr/>
          <p:nvPr/>
        </p:nvSpPr>
        <p:spPr>
          <a:xfrm>
            <a:off x="914400" y="3017520"/>
            <a:ext cx="7315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400"/>
              <a:buFont typeface="Lato"/>
              <a:buNone/>
            </a:pPr>
            <a:r>
              <a:rPr lang="en-US" sz="1400">
                <a:solidFill>
                  <a:schemeClr val="dk1"/>
                </a:solidFill>
                <a:latin typeface="Lato"/>
                <a:ea typeface="Lato"/>
                <a:cs typeface="Lato"/>
                <a:sym typeface="Lato"/>
              </a:rPr>
              <a:t>AICW Fellowship  |  Student Project Presentation 2026</a:t>
            </a:r>
            <a:endParaRPr sz="1400">
              <a:solidFill>
                <a:schemeClr val="dk1"/>
              </a:solidFill>
              <a:latin typeface="Lato"/>
              <a:ea typeface="Lato"/>
              <a:cs typeface="Lato"/>
              <a:sym typeface="Lato"/>
            </a:endParaRPr>
          </a:p>
        </p:txBody>
      </p:sp>
      <p:sp>
        <p:nvSpPr>
          <p:cNvPr id="200" name="Google Shape;200;p11"/>
          <p:cNvSpPr/>
          <p:nvPr/>
        </p:nvSpPr>
        <p:spPr>
          <a:xfrm>
            <a:off x="914400" y="3566160"/>
            <a:ext cx="7315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100"/>
              <a:buFont typeface="Lato"/>
              <a:buNone/>
            </a:pPr>
            <a:r>
              <a:rPr lang="en-US" sz="1100">
                <a:solidFill>
                  <a:schemeClr val="dk1"/>
                </a:solidFill>
                <a:latin typeface="Lato"/>
                <a:ea typeface="Lato"/>
                <a:cs typeface="Lato"/>
                <a:sym typeface="Lato"/>
              </a:rPr>
              <a:t>  LinkedIn  |   Edunet Foundation</a:t>
            </a:r>
            <a:endParaRPr sz="1100">
              <a:solidFill>
                <a:schemeClr val="dk1"/>
              </a:solidFill>
              <a:latin typeface="Lato"/>
              <a:ea typeface="Lato"/>
              <a:cs typeface="Lato"/>
              <a:sym typeface="Lato"/>
            </a:endParaRPr>
          </a:p>
        </p:txBody>
      </p:sp>
      <p:sp>
        <p:nvSpPr>
          <p:cNvPr id="201" name="Google Shape;201;p11"/>
          <p:cNvSpPr txBox="1"/>
          <p:nvPr/>
        </p:nvSpPr>
        <p:spPr>
          <a:xfrm>
            <a:off x="2632982" y="1705295"/>
            <a:ext cx="3878036" cy="1175065"/>
          </a:xfrm>
          <a:prstGeom prst="rect">
            <a:avLst/>
          </a:prstGeom>
          <a:noFill/>
          <a:ln>
            <a:noFill/>
          </a:ln>
        </p:spPr>
        <p:txBody>
          <a:bodyPr anchorCtr="0" anchor="t" bIns="0" lIns="0" spcFirstLastPara="1" rIns="0" wrap="square" tIns="0">
            <a:spAutoFit/>
          </a:bodyPr>
          <a:lstStyle/>
          <a:p>
            <a:pPr indent="0" lvl="0" marL="0" marR="0" rtl="0" algn="ctr">
              <a:lnSpc>
                <a:spcPct val="213720"/>
              </a:lnSpc>
              <a:spcBef>
                <a:spcPts val="0"/>
              </a:spcBef>
              <a:spcAft>
                <a:spcPts val="0"/>
              </a:spcAft>
              <a:buNone/>
            </a:pPr>
            <a:r>
              <a:rPr b="1" lang="en-US" sz="5000">
                <a:solidFill>
                  <a:srgbClr val="0D358D"/>
                </a:solidFill>
                <a:latin typeface="Lato"/>
                <a:ea typeface="Lato"/>
                <a:cs typeface="Lato"/>
                <a:sym typeface="Lato"/>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2026-02-18T09:17:23Z</dcterms:created>
  <dc:creator>PptxGenJS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